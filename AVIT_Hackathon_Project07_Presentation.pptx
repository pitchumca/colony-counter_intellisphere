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115" d="100"/>
          <a:sy n="115" d="100"/>
        </p:scale>
        <p:origin x="-514" y="-72"/>
      </p:cViewPr>
      <p:guideLst>
        <p:guide orient="horz" pos="162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Project 07 of the AVIT Faculty Hackathon 2026. We built an automated bacterial colony counter using classical computer vision — no deep learning for counting — plus a Random Forest to assess plate countability. 10-minute talk; 3-minute demo follows.</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colony counting is routine in microbiology but slow, subjective, and hard to reproduce. Our system replaces the counting step entirely with classical image processing — keeping the human in the loop only for edge cases via the RF classifier.</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runs in 7 deterministic stages. No training data is needed for counting. The RF only sees 8 image-level statistics and makes a plate-level verdict — it never touches the counting logic.</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image is processed by all four methods simultaneously. The Consensus combines their outputs. This comparison lets us benchmark the improved Watershed against the standard Connected Components baseline on every single plate.</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Watershed method gives the most significant improvement. The LoG is useful as a reference but should not dominate the consensus for dense plates. All metrics are computed only on countable plates — this is methodologically important.</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RF uses 8 extracted image statistics. 80.8% accuracy on 26 held-out plates. The high recall for countable plates is the critical metric — we don't want to miss a valid plate. The class imbalance mirrors real lab conditions where dense plates dominate.</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handles realistic lighting variations well. The critical gap is Gaussian noise — high-frequency noise destroys the binary mask. A denoising pre-processing step (bilateral filter or NLM) is the top priority for the next version.</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3-minute live demo. Navigate to the Streamlit app. Upload the sample ZIP. Show the single-plate preview panel — point out original, mask, overlay. Click Process All and show the results dashboard. Export the CSV. Keep it fast.</a:t>
            </a:r>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 the noise fragility is a clear gap. The good news is the fix is straightforward: a denoising step before thresholding. Future work is concrete and already scoped.</a:t>
            </a:r>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reinforcing that this system is already deployed on Streamlit, validated on 104 real images, and the source is on GitHub. Classical CV + RF keeps the pipeline explainable — important for laboratory adoption.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7132320" y="-731520"/>
            <a:ext cx="3200400" cy="3200400"/>
          </a:xfrm>
          <a:prstGeom prst="ellipse">
            <a:avLst/>
          </a:prstGeom>
          <a:solidFill>
            <a:srgbClr val="028090">
              <a:alpha val="20000"/>
            </a:srgbClr>
          </a:solidFill>
          <a:ln w="12700">
            <a:solidFill>
              <a:srgbClr val="028090">
                <a:alpha val="20000"/>
              </a:srgbClr>
            </a:solidFill>
            <a:prstDash val="solid"/>
          </a:ln>
        </p:spPr>
      </p:sp>
      <p:sp>
        <p:nvSpPr>
          <p:cNvPr id="4" name="Shape 2"/>
          <p:cNvSpPr/>
          <p:nvPr/>
        </p:nvSpPr>
        <p:spPr>
          <a:xfrm>
            <a:off x="-731520" y="3200400"/>
            <a:ext cx="2286000" cy="2286000"/>
          </a:xfrm>
          <a:prstGeom prst="ellipse">
            <a:avLst/>
          </a:prstGeom>
          <a:solidFill>
            <a:srgbClr val="02C39A">
              <a:alpha val="15000"/>
            </a:srgbClr>
          </a:solidFill>
          <a:ln w="12700">
            <a:solidFill>
              <a:srgbClr val="02C39A">
                <a:alpha val="15000"/>
              </a:srgbClr>
            </a:solidFill>
            <a:prstDash val="solid"/>
          </a:ln>
        </p:spPr>
      </p:sp>
      <p:sp>
        <p:nvSpPr>
          <p:cNvPr id="5" name="Text 3"/>
          <p:cNvSpPr/>
          <p:nvPr/>
        </p:nvSpPr>
        <p:spPr>
          <a:xfrm>
            <a:off x="502920" y="457200"/>
            <a:ext cx="914400" cy="914400"/>
          </a:xfrm>
          <a:prstGeom prst="rect">
            <a:avLst/>
          </a:prstGeom>
          <a:noFill/>
          <a:ln/>
        </p:spPr>
        <p:txBody>
          <a:bodyPr wrap="square" rtlCol="0" anchor="ctr"/>
          <a:lstStyle/>
          <a:p>
            <a:pPr marL="0" indent="0" algn="ctr">
              <a:buNone/>
            </a:pPr>
            <a:r>
              <a:rPr lang="en-US" sz="4400" dirty="0">
                <a:solidFill>
                  <a:srgbClr val="000000"/>
                </a:solidFill>
              </a:rPr>
              <a:t>🧫</a:t>
            </a:r>
            <a:endParaRPr lang="en-US" sz="4400" dirty="0"/>
          </a:p>
        </p:txBody>
      </p:sp>
      <p:sp>
        <p:nvSpPr>
          <p:cNvPr id="6" name="Text 4"/>
          <p:cNvSpPr/>
          <p:nvPr/>
        </p:nvSpPr>
        <p:spPr>
          <a:xfrm>
            <a:off x="457200" y="1188720"/>
            <a:ext cx="8229600" cy="1005840"/>
          </a:xfrm>
          <a:prstGeom prst="rect">
            <a:avLst/>
          </a:prstGeom>
          <a:noFill/>
          <a:ln/>
        </p:spPr>
        <p:txBody>
          <a:bodyPr wrap="square" rtlCol="0" anchor="ctr"/>
          <a:lstStyle/>
          <a:p>
            <a:pPr marL="0" indent="0" algn="l">
              <a:buNone/>
            </a:pPr>
            <a:r>
              <a:rPr lang="en-US" sz="3400" b="1" dirty="0">
                <a:solidFill>
                  <a:srgbClr val="FFFFFF"/>
                </a:solidFill>
                <a:latin typeface="Arial" pitchFamily="34" charset="0"/>
                <a:ea typeface="Arial" pitchFamily="34" charset="-122"/>
                <a:cs typeface="Arial" pitchFamily="34" charset="-120"/>
              </a:rPr>
              <a:t>Automated Bacterial Colony Counter</a:t>
            </a:r>
            <a:endParaRPr lang="en-US" sz="3400" dirty="0"/>
          </a:p>
        </p:txBody>
      </p:sp>
      <p:sp>
        <p:nvSpPr>
          <p:cNvPr id="7" name="Text 5"/>
          <p:cNvSpPr/>
          <p:nvPr/>
        </p:nvSpPr>
        <p:spPr>
          <a:xfrm>
            <a:off x="457200" y="2176272"/>
            <a:ext cx="7772400" cy="411480"/>
          </a:xfrm>
          <a:prstGeom prst="rect">
            <a:avLst/>
          </a:prstGeom>
          <a:noFill/>
          <a:ln/>
        </p:spPr>
        <p:txBody>
          <a:bodyPr wrap="square" rtlCol="0" anchor="ctr"/>
          <a:lstStyle/>
          <a:p>
            <a:pPr marL="0" indent="0" algn="l">
              <a:buNone/>
            </a:pPr>
            <a:r>
              <a:rPr lang="en-US" sz="1400" dirty="0">
                <a:solidFill>
                  <a:srgbClr val="A8D8E8"/>
                </a:solidFill>
                <a:latin typeface="Arial" pitchFamily="34" charset="0"/>
                <a:ea typeface="Arial" pitchFamily="34" charset="-122"/>
                <a:cs typeface="Arial" pitchFamily="34" charset="-120"/>
              </a:rPr>
              <a:t>Classical Computer Vision  +  Random Forest Countability Classifier</a:t>
            </a:r>
            <a:endParaRPr lang="en-US" sz="1400" dirty="0"/>
          </a:p>
        </p:txBody>
      </p:sp>
      <p:sp>
        <p:nvSpPr>
          <p:cNvPr id="8" name="Shape 6"/>
          <p:cNvSpPr/>
          <p:nvPr/>
        </p:nvSpPr>
        <p:spPr>
          <a:xfrm>
            <a:off x="457200" y="2670048"/>
            <a:ext cx="4114800" cy="0"/>
          </a:xfrm>
          <a:prstGeom prst="line">
            <a:avLst/>
          </a:prstGeom>
          <a:noFill/>
          <a:ln w="12700">
            <a:solidFill>
              <a:srgbClr val="028090"/>
            </a:solidFill>
            <a:prstDash val="solid"/>
          </a:ln>
        </p:spPr>
      </p:sp>
      <p:sp>
        <p:nvSpPr>
          <p:cNvPr id="9" name="Text 7"/>
          <p:cNvSpPr/>
          <p:nvPr/>
        </p:nvSpPr>
        <p:spPr>
          <a:xfrm>
            <a:off x="457200" y="2788920"/>
            <a:ext cx="7772400" cy="594360"/>
          </a:xfrm>
          <a:prstGeom prst="rect">
            <a:avLst/>
          </a:prstGeom>
          <a:noFill/>
          <a:ln/>
        </p:spPr>
        <p:txBody>
          <a:bodyPr wrap="square" rtlCol="0" anchor="ctr"/>
          <a:lstStyle/>
          <a:p>
            <a:pPr marL="0" indent="0">
              <a:buNone/>
            </a:pPr>
            <a:r>
              <a:rPr lang="en-US" sz="1100" dirty="0">
                <a:solidFill>
                  <a:srgbClr val="CBD5E1"/>
                </a:solidFill>
                <a:latin typeface="Arial" pitchFamily="34" charset="0"/>
                <a:ea typeface="Arial" pitchFamily="34" charset="-122"/>
                <a:cs typeface="Arial" pitchFamily="34" charset="-120"/>
              </a:rPr>
              <a:t>AVIT Faculty Hackathon 2026  ·  Project 07</a:t>
            </a:r>
            <a:endParaRPr lang="en-US" sz="1100" dirty="0"/>
          </a:p>
          <a:p>
            <a:pPr marL="0" indent="0">
              <a:buNone/>
            </a:pPr>
            <a:r>
              <a:rPr lang="en-US" sz="1100" dirty="0">
                <a:solidFill>
                  <a:srgbClr val="CBD5E1"/>
                </a:solidFill>
                <a:latin typeface="Arial" pitchFamily="34" charset="0"/>
                <a:ea typeface="Arial" pitchFamily="34" charset="-122"/>
                <a:cs typeface="Arial" pitchFamily="34" charset="-120"/>
              </a:rPr>
              <a:t>CSE × Biotechnology  ·  AVIT, VMRF Deemed University, Chennai</a:t>
            </a:r>
            <a:endParaRPr lang="en-US" sz="1100" dirty="0"/>
          </a:p>
        </p:txBody>
      </p:sp>
      <p:sp>
        <p:nvSpPr>
          <p:cNvPr id="10" name="Text 8"/>
          <p:cNvSpPr/>
          <p:nvPr/>
        </p:nvSpPr>
        <p:spPr>
          <a:xfrm>
            <a:off x="457200" y="3474720"/>
            <a:ext cx="8229600" cy="320040"/>
          </a:xfrm>
          <a:prstGeom prst="rect">
            <a:avLst/>
          </a:prstGeom>
          <a:noFill/>
          <a:ln/>
        </p:spPr>
        <p:txBody>
          <a:bodyPr wrap="square" rtlCol="0" anchor="ctr"/>
          <a:lstStyle/>
          <a:p>
            <a:pPr marL="0" indent="0">
              <a:buNone/>
            </a:pPr>
            <a:r>
              <a:rPr lang="en-US" sz="1000" dirty="0">
                <a:solidFill>
                  <a:srgbClr val="94A3B8"/>
                </a:solidFill>
                <a:latin typeface="Arial" pitchFamily="34" charset="0"/>
                <a:ea typeface="Arial" pitchFamily="34" charset="-122"/>
                <a:cs typeface="Arial" pitchFamily="34" charset="-120"/>
              </a:rPr>
              <a:t>Dr. S. Pitchumani Angayarkanni  |  Mr. R. Udaya  |  Dr. Baskar  |  Dr. A. Keerthi</a:t>
            </a:r>
            <a:endParaRPr lang="en-US" sz="1000" dirty="0"/>
          </a:p>
        </p:txBody>
      </p:sp>
      <p:sp>
        <p:nvSpPr>
          <p:cNvPr id="11" name="Text 9"/>
          <p:cNvSpPr/>
          <p:nvPr/>
        </p:nvSpPr>
        <p:spPr>
          <a:xfrm>
            <a:off x="457200" y="3794760"/>
            <a:ext cx="8229600" cy="274320"/>
          </a:xfrm>
          <a:prstGeom prst="rect">
            <a:avLst/>
          </a:prstGeom>
          <a:noFill/>
          <a:ln/>
        </p:spPr>
        <p:txBody>
          <a:bodyPr wrap="square" rtlCol="0" anchor="ctr"/>
          <a:lstStyle/>
          <a:p>
            <a:pPr marL="0" indent="0">
              <a:buNone/>
            </a:pPr>
            <a:r>
              <a:rPr lang="en-US" sz="900" dirty="0">
                <a:solidFill>
                  <a:srgbClr val="64748B"/>
                </a:solidFill>
                <a:latin typeface="Arial" pitchFamily="34" charset="0"/>
                <a:ea typeface="Arial" pitchFamily="34" charset="-122"/>
                <a:cs typeface="Arial" pitchFamily="34" charset="-120"/>
              </a:rPr>
              <a:t>Domain Expert: Dr. S. Kalaivani Priyadarshini, </a:t>
            </a:r>
            <a:r>
              <a:rPr lang="en-US" sz="900" dirty="0" smtClean="0">
                <a:solidFill>
                  <a:srgbClr val="64748B"/>
                </a:solidFill>
                <a:latin typeface="Arial" pitchFamily="34" charset="0"/>
                <a:ea typeface="Arial" pitchFamily="34" charset="-122"/>
                <a:cs typeface="Arial" pitchFamily="34" charset="-120"/>
              </a:rPr>
              <a:t>Associate Professor, Department of Biotechnology, Lady </a:t>
            </a:r>
            <a:r>
              <a:rPr lang="en-US" sz="900" dirty="0">
                <a:solidFill>
                  <a:srgbClr val="64748B"/>
                </a:solidFill>
                <a:latin typeface="Arial" pitchFamily="34" charset="0"/>
                <a:ea typeface="Arial" pitchFamily="34" charset="-122"/>
                <a:cs typeface="Arial" pitchFamily="34" charset="-120"/>
              </a:rPr>
              <a:t>Doak College, Madurai</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PROBLEM STATEMENT</a:t>
            </a:r>
            <a:endParaRPr lang="en-US" sz="900" dirty="0"/>
          </a:p>
        </p:txBody>
      </p:sp>
      <p:sp>
        <p:nvSpPr>
          <p:cNvPr id="4" name="Text 2"/>
          <p:cNvSpPr/>
          <p:nvPr/>
        </p:nvSpPr>
        <p:spPr>
          <a:xfrm>
            <a:off x="411480" y="566928"/>
            <a:ext cx="8321040" cy="50292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Why Automate Colony Counting?</a:t>
            </a:r>
            <a:endParaRPr lang="en-US" sz="2600" dirty="0"/>
          </a:p>
        </p:txBody>
      </p:sp>
      <p:sp>
        <p:nvSpPr>
          <p:cNvPr id="5" name="Shape 3"/>
          <p:cNvSpPr/>
          <p:nvPr/>
        </p:nvSpPr>
        <p:spPr>
          <a:xfrm>
            <a:off x="411480" y="1234440"/>
            <a:ext cx="3931920" cy="713232"/>
          </a:xfrm>
          <a:prstGeom prst="roundRect">
            <a:avLst>
              <a:gd name="adj" fmla="val 12821"/>
            </a:avLst>
          </a:prstGeom>
          <a:solidFill>
            <a:srgbClr val="E8F4F8"/>
          </a:solidFill>
          <a:ln w="12700">
            <a:solidFill>
              <a:srgbClr val="D1E8F0"/>
            </a:solidFill>
            <a:prstDash val="solid"/>
          </a:ln>
        </p:spPr>
      </p:sp>
      <p:sp>
        <p:nvSpPr>
          <p:cNvPr id="6" name="Text 4"/>
          <p:cNvSpPr/>
          <p:nvPr/>
        </p:nvSpPr>
        <p:spPr>
          <a:xfrm>
            <a:off x="502920" y="1234440"/>
            <a:ext cx="502920" cy="713232"/>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1051560" y="1289304"/>
            <a:ext cx="3200400" cy="274320"/>
          </a:xfrm>
          <a:prstGeom prst="rect">
            <a:avLst/>
          </a:prstGeom>
          <a:noFill/>
          <a:ln/>
        </p:spPr>
        <p:txBody>
          <a:bodyPr wrap="square" rtlCol="0" anchor="ctr"/>
          <a:lstStyle/>
          <a:p>
            <a:pPr marL="0" indent="0">
              <a:buNone/>
            </a:pPr>
            <a:r>
              <a:rPr lang="en-US" sz="1200" b="1" dirty="0">
                <a:solidFill>
                  <a:srgbClr val="1B3A6B"/>
                </a:solidFill>
                <a:latin typeface="Arial" pitchFamily="34" charset="0"/>
                <a:ea typeface="Arial" pitchFamily="34" charset="-122"/>
                <a:cs typeface="Arial" pitchFamily="34" charset="-120"/>
              </a:rPr>
              <a:t>Time-Consuming</a:t>
            </a:r>
            <a:endParaRPr lang="en-US" sz="1200" dirty="0"/>
          </a:p>
        </p:txBody>
      </p:sp>
      <p:sp>
        <p:nvSpPr>
          <p:cNvPr id="8" name="Text 6"/>
          <p:cNvSpPr/>
          <p:nvPr/>
        </p:nvSpPr>
        <p:spPr>
          <a:xfrm>
            <a:off x="1051560" y="1563624"/>
            <a:ext cx="32004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30–60 min per plate set manually</a:t>
            </a:r>
            <a:endParaRPr lang="en-US" sz="1000" dirty="0"/>
          </a:p>
        </p:txBody>
      </p:sp>
      <p:sp>
        <p:nvSpPr>
          <p:cNvPr id="9" name="Shape 7"/>
          <p:cNvSpPr/>
          <p:nvPr/>
        </p:nvSpPr>
        <p:spPr>
          <a:xfrm>
            <a:off x="411480" y="2057400"/>
            <a:ext cx="3931920" cy="713232"/>
          </a:xfrm>
          <a:prstGeom prst="roundRect">
            <a:avLst>
              <a:gd name="adj" fmla="val 12821"/>
            </a:avLst>
          </a:prstGeom>
          <a:solidFill>
            <a:srgbClr val="E8F4F8"/>
          </a:solidFill>
          <a:ln w="12700">
            <a:solidFill>
              <a:srgbClr val="D1E8F0"/>
            </a:solidFill>
            <a:prstDash val="solid"/>
          </a:ln>
        </p:spPr>
      </p:sp>
      <p:sp>
        <p:nvSpPr>
          <p:cNvPr id="10" name="Text 8"/>
          <p:cNvSpPr/>
          <p:nvPr/>
        </p:nvSpPr>
        <p:spPr>
          <a:xfrm>
            <a:off x="502920" y="2057400"/>
            <a:ext cx="502920" cy="713232"/>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1051560" y="2112264"/>
            <a:ext cx="3200400" cy="274320"/>
          </a:xfrm>
          <a:prstGeom prst="rect">
            <a:avLst/>
          </a:prstGeom>
          <a:noFill/>
          <a:ln/>
        </p:spPr>
        <p:txBody>
          <a:bodyPr wrap="square" rtlCol="0" anchor="ctr"/>
          <a:lstStyle/>
          <a:p>
            <a:pPr marL="0" indent="0">
              <a:buNone/>
            </a:pPr>
            <a:r>
              <a:rPr lang="en-US" sz="1200" b="1" dirty="0">
                <a:solidFill>
                  <a:srgbClr val="1B3A6B"/>
                </a:solidFill>
                <a:latin typeface="Arial" pitchFamily="34" charset="0"/>
                <a:ea typeface="Arial" pitchFamily="34" charset="-122"/>
                <a:cs typeface="Arial" pitchFamily="34" charset="-120"/>
              </a:rPr>
              <a:t>Subjective</a:t>
            </a:r>
            <a:endParaRPr lang="en-US" sz="1200" dirty="0"/>
          </a:p>
        </p:txBody>
      </p:sp>
      <p:sp>
        <p:nvSpPr>
          <p:cNvPr id="12" name="Text 10"/>
          <p:cNvSpPr/>
          <p:nvPr/>
        </p:nvSpPr>
        <p:spPr>
          <a:xfrm>
            <a:off x="1051560" y="2386584"/>
            <a:ext cx="32004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Inter-operator variability up to 15%</a:t>
            </a:r>
            <a:endParaRPr lang="en-US" sz="1000" dirty="0"/>
          </a:p>
        </p:txBody>
      </p:sp>
      <p:sp>
        <p:nvSpPr>
          <p:cNvPr id="13" name="Shape 11"/>
          <p:cNvSpPr/>
          <p:nvPr/>
        </p:nvSpPr>
        <p:spPr>
          <a:xfrm>
            <a:off x="411480" y="2880360"/>
            <a:ext cx="3931920" cy="713232"/>
          </a:xfrm>
          <a:prstGeom prst="roundRect">
            <a:avLst>
              <a:gd name="adj" fmla="val 12821"/>
            </a:avLst>
          </a:prstGeom>
          <a:solidFill>
            <a:srgbClr val="E8F4F8"/>
          </a:solidFill>
          <a:ln w="12700">
            <a:solidFill>
              <a:srgbClr val="D1E8F0"/>
            </a:solidFill>
            <a:prstDash val="solid"/>
          </a:ln>
        </p:spPr>
      </p:sp>
      <p:sp>
        <p:nvSpPr>
          <p:cNvPr id="14" name="Text 12"/>
          <p:cNvSpPr/>
          <p:nvPr/>
        </p:nvSpPr>
        <p:spPr>
          <a:xfrm>
            <a:off x="502920" y="2880360"/>
            <a:ext cx="502920" cy="713232"/>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5" name="Text 13"/>
          <p:cNvSpPr/>
          <p:nvPr/>
        </p:nvSpPr>
        <p:spPr>
          <a:xfrm>
            <a:off x="1051560" y="2935224"/>
            <a:ext cx="3200400" cy="274320"/>
          </a:xfrm>
          <a:prstGeom prst="rect">
            <a:avLst/>
          </a:prstGeom>
          <a:noFill/>
          <a:ln/>
        </p:spPr>
        <p:txBody>
          <a:bodyPr wrap="square" rtlCol="0" anchor="ctr"/>
          <a:lstStyle/>
          <a:p>
            <a:pPr marL="0" indent="0">
              <a:buNone/>
            </a:pPr>
            <a:r>
              <a:rPr lang="en-US" sz="1200" b="1" dirty="0">
                <a:solidFill>
                  <a:srgbClr val="1B3A6B"/>
                </a:solidFill>
                <a:latin typeface="Arial" pitchFamily="34" charset="0"/>
                <a:ea typeface="Arial" pitchFamily="34" charset="-122"/>
                <a:cs typeface="Arial" pitchFamily="34" charset="-120"/>
              </a:rPr>
              <a:t>Error-Prone</a:t>
            </a:r>
            <a:endParaRPr lang="en-US" sz="1200" dirty="0"/>
          </a:p>
        </p:txBody>
      </p:sp>
      <p:sp>
        <p:nvSpPr>
          <p:cNvPr id="16" name="Text 14"/>
          <p:cNvSpPr/>
          <p:nvPr/>
        </p:nvSpPr>
        <p:spPr>
          <a:xfrm>
            <a:off x="1051560" y="3209544"/>
            <a:ext cx="32004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Touching colonies cause miscounts</a:t>
            </a:r>
            <a:endParaRPr lang="en-US" sz="1000" dirty="0"/>
          </a:p>
        </p:txBody>
      </p:sp>
      <p:sp>
        <p:nvSpPr>
          <p:cNvPr id="17" name="Shape 15"/>
          <p:cNvSpPr/>
          <p:nvPr/>
        </p:nvSpPr>
        <p:spPr>
          <a:xfrm>
            <a:off x="411480" y="3703320"/>
            <a:ext cx="3931920" cy="713232"/>
          </a:xfrm>
          <a:prstGeom prst="roundRect">
            <a:avLst>
              <a:gd name="adj" fmla="val 12821"/>
            </a:avLst>
          </a:prstGeom>
          <a:solidFill>
            <a:srgbClr val="E8F4F8"/>
          </a:solidFill>
          <a:ln w="12700">
            <a:solidFill>
              <a:srgbClr val="D1E8F0"/>
            </a:solidFill>
            <a:prstDash val="solid"/>
          </a:ln>
        </p:spPr>
      </p:sp>
      <p:sp>
        <p:nvSpPr>
          <p:cNvPr id="18" name="Text 16"/>
          <p:cNvSpPr/>
          <p:nvPr/>
        </p:nvSpPr>
        <p:spPr>
          <a:xfrm>
            <a:off x="502920" y="3703320"/>
            <a:ext cx="502920" cy="713232"/>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9" name="Text 17"/>
          <p:cNvSpPr/>
          <p:nvPr/>
        </p:nvSpPr>
        <p:spPr>
          <a:xfrm>
            <a:off x="1051560" y="3758184"/>
            <a:ext cx="3200400" cy="274320"/>
          </a:xfrm>
          <a:prstGeom prst="rect">
            <a:avLst/>
          </a:prstGeom>
          <a:noFill/>
          <a:ln/>
        </p:spPr>
        <p:txBody>
          <a:bodyPr wrap="square" rtlCol="0" anchor="ctr"/>
          <a:lstStyle/>
          <a:p>
            <a:pPr marL="0" indent="0">
              <a:buNone/>
            </a:pPr>
            <a:r>
              <a:rPr lang="en-US" sz="1200" b="1" dirty="0">
                <a:solidFill>
                  <a:srgbClr val="1B3A6B"/>
                </a:solidFill>
                <a:latin typeface="Arial" pitchFamily="34" charset="0"/>
                <a:ea typeface="Arial" pitchFamily="34" charset="-122"/>
                <a:cs typeface="Arial" pitchFamily="34" charset="-120"/>
              </a:rPr>
              <a:t>Not Reproducible</a:t>
            </a:r>
            <a:endParaRPr lang="en-US" sz="1200" dirty="0"/>
          </a:p>
        </p:txBody>
      </p:sp>
      <p:sp>
        <p:nvSpPr>
          <p:cNvPr id="20" name="Text 18"/>
          <p:cNvSpPr/>
          <p:nvPr/>
        </p:nvSpPr>
        <p:spPr>
          <a:xfrm>
            <a:off x="1051560" y="4032504"/>
            <a:ext cx="3200400" cy="274320"/>
          </a:xfrm>
          <a:prstGeom prst="rect">
            <a:avLst/>
          </a:prstGeom>
          <a:noFill/>
          <a:ln/>
        </p:spPr>
        <p:txBody>
          <a:bodyPr wrap="square" rtlCol="0" anchor="ctr"/>
          <a:lstStyle/>
          <a:p>
            <a:pPr marL="0" indent="0">
              <a:buNone/>
            </a:pPr>
            <a:r>
              <a:rPr lang="en-US" sz="1000" dirty="0">
                <a:solidFill>
                  <a:srgbClr val="64748B"/>
                </a:solidFill>
                <a:latin typeface="Arial" pitchFamily="34" charset="0"/>
                <a:ea typeface="Arial" pitchFamily="34" charset="-122"/>
                <a:cs typeface="Arial" pitchFamily="34" charset="-120"/>
              </a:rPr>
              <a:t>Lighting &amp; fatigue affect results</a:t>
            </a:r>
            <a:endParaRPr lang="en-US" sz="1000" dirty="0"/>
          </a:p>
        </p:txBody>
      </p:sp>
      <p:sp>
        <p:nvSpPr>
          <p:cNvPr id="21" name="Shape 19"/>
          <p:cNvSpPr/>
          <p:nvPr/>
        </p:nvSpPr>
        <p:spPr>
          <a:xfrm>
            <a:off x="4754880" y="1188720"/>
            <a:ext cx="3977640" cy="3520440"/>
          </a:xfrm>
          <a:prstGeom prst="roundRect">
            <a:avLst>
              <a:gd name="adj" fmla="val 3896"/>
            </a:avLst>
          </a:prstGeom>
          <a:solidFill>
            <a:srgbClr val="1B3A6B"/>
          </a:solidFill>
          <a:ln w="12700">
            <a:solidFill>
              <a:srgbClr val="1B3A6B"/>
            </a:solidFill>
            <a:prstDash val="solid"/>
          </a:ln>
          <a:effectLst>
            <a:outerShdw blurRad="101600" dist="38100" dir="2700000" algn="bl" rotWithShape="0">
              <a:srgbClr val="000000">
                <a:alpha val="13000"/>
              </a:srgbClr>
            </a:outerShdw>
          </a:effectLst>
        </p:spPr>
      </p:sp>
      <p:sp>
        <p:nvSpPr>
          <p:cNvPr id="22" name="Text 20"/>
          <p:cNvSpPr/>
          <p:nvPr/>
        </p:nvSpPr>
        <p:spPr>
          <a:xfrm>
            <a:off x="4754880" y="1325880"/>
            <a:ext cx="3977640" cy="365760"/>
          </a:xfrm>
          <a:prstGeom prst="rect">
            <a:avLst/>
          </a:prstGeom>
          <a:noFill/>
          <a:ln/>
        </p:spPr>
        <p:txBody>
          <a:bodyPr wrap="square" rtlCol="0" anchor="ctr"/>
          <a:lstStyle/>
          <a:p>
            <a:pPr marL="0" indent="0" algn="ctr">
              <a:buNone/>
            </a:pPr>
            <a:r>
              <a:rPr lang="en-US" sz="1400" b="1" dirty="0">
                <a:solidFill>
                  <a:srgbClr val="02C39A"/>
                </a:solidFill>
                <a:latin typeface="Arial" pitchFamily="34" charset="0"/>
                <a:ea typeface="Arial" pitchFamily="34" charset="-122"/>
                <a:cs typeface="Arial" pitchFamily="34" charset="-120"/>
              </a:rPr>
              <a:t>Our Solution</a:t>
            </a:r>
            <a:endParaRPr lang="en-US" sz="1400" dirty="0"/>
          </a:p>
        </p:txBody>
      </p:sp>
      <p:sp>
        <p:nvSpPr>
          <p:cNvPr id="23" name="Text 21"/>
          <p:cNvSpPr/>
          <p:nvPr/>
        </p:nvSpPr>
        <p:spPr>
          <a:xfrm>
            <a:off x="4892040" y="1764792"/>
            <a:ext cx="3657600" cy="402336"/>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  Deterministic CV counting — no training data needed</a:t>
            </a:r>
            <a:endParaRPr lang="en-US" sz="1050" dirty="0"/>
          </a:p>
        </p:txBody>
      </p:sp>
      <p:sp>
        <p:nvSpPr>
          <p:cNvPr id="24" name="Text 22"/>
          <p:cNvSpPr/>
          <p:nvPr/>
        </p:nvSpPr>
        <p:spPr>
          <a:xfrm>
            <a:off x="4892040" y="2231136"/>
            <a:ext cx="3657600" cy="402336"/>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  Marker-Controlled Watershed separates touching colonies</a:t>
            </a:r>
            <a:endParaRPr lang="en-US" sz="1050" dirty="0"/>
          </a:p>
        </p:txBody>
      </p:sp>
      <p:sp>
        <p:nvSpPr>
          <p:cNvPr id="25" name="Text 23"/>
          <p:cNvSpPr/>
          <p:nvPr/>
        </p:nvSpPr>
        <p:spPr>
          <a:xfrm>
            <a:off x="4892040" y="2697480"/>
            <a:ext cx="3657600" cy="402336"/>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  4 methods compared per image</a:t>
            </a:r>
            <a:endParaRPr lang="en-US" sz="1050" dirty="0"/>
          </a:p>
        </p:txBody>
      </p:sp>
      <p:sp>
        <p:nvSpPr>
          <p:cNvPr id="26" name="Text 24"/>
          <p:cNvSpPr/>
          <p:nvPr/>
        </p:nvSpPr>
        <p:spPr>
          <a:xfrm>
            <a:off x="4892040" y="3163824"/>
            <a:ext cx="3657600" cy="402336"/>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  Random Forest for plate-level assessment (TFTC / Countable / TNTC)</a:t>
            </a:r>
            <a:endParaRPr lang="en-US" sz="1050" dirty="0"/>
          </a:p>
        </p:txBody>
      </p:sp>
      <p:sp>
        <p:nvSpPr>
          <p:cNvPr id="27" name="Text 25"/>
          <p:cNvSpPr/>
          <p:nvPr/>
        </p:nvSpPr>
        <p:spPr>
          <a:xfrm>
            <a:off x="4892040" y="3630168"/>
            <a:ext cx="3657600" cy="402336"/>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  Validated on 104 real E. coli lab images</a:t>
            </a:r>
            <a:endParaRPr lang="en-US" sz="1050" dirty="0"/>
          </a:p>
        </p:txBody>
      </p:sp>
      <p:sp>
        <p:nvSpPr>
          <p:cNvPr id="28" name="Text 26"/>
          <p:cNvSpPr/>
          <p:nvPr/>
        </p:nvSpPr>
        <p:spPr>
          <a:xfrm>
            <a:off x="4892040" y="4096512"/>
            <a:ext cx="3657600" cy="402336"/>
          </a:xfrm>
          <a:prstGeom prst="rect">
            <a:avLst/>
          </a:prstGeom>
          <a:noFill/>
          <a:ln/>
        </p:spPr>
        <p:txBody>
          <a:bodyPr wrap="square" rtlCol="0" anchor="ctr"/>
          <a:lstStyle/>
          <a:p>
            <a:pPr marL="0" indent="0">
              <a:buNone/>
            </a:pPr>
            <a:r>
              <a:rPr lang="en-US" sz="1050" dirty="0">
                <a:solidFill>
                  <a:srgbClr val="FFFFFF"/>
                </a:solidFill>
                <a:latin typeface="Arial" pitchFamily="34" charset="0"/>
                <a:ea typeface="Arial" pitchFamily="34" charset="-122"/>
                <a:cs typeface="Arial" pitchFamily="34" charset="-120"/>
              </a:rPr>
              <a:t>✓  Interactive Streamlit web application</a:t>
            </a:r>
            <a:endParaRPr lang="en-US" sz="10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SYSTEM ARCHITECTURE</a:t>
            </a:r>
            <a:endParaRPr lang="en-US" sz="900" dirty="0"/>
          </a:p>
        </p:txBody>
      </p:sp>
      <p:sp>
        <p:nvSpPr>
          <p:cNvPr id="4" name="Text 2"/>
          <p:cNvSpPr/>
          <p:nvPr/>
        </p:nvSpPr>
        <p:spPr>
          <a:xfrm>
            <a:off x="411480" y="566928"/>
            <a:ext cx="8321040" cy="45720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7-Stage Classical CV Pipeline</a:t>
            </a:r>
            <a:endParaRPr lang="en-US" sz="2600" dirty="0"/>
          </a:p>
        </p:txBody>
      </p:sp>
      <p:sp>
        <p:nvSpPr>
          <p:cNvPr id="5" name="Shape 3"/>
          <p:cNvSpPr/>
          <p:nvPr/>
        </p:nvSpPr>
        <p:spPr>
          <a:xfrm>
            <a:off x="320040" y="1188720"/>
            <a:ext cx="1115568" cy="868680"/>
          </a:xfrm>
          <a:prstGeom prst="roundRect">
            <a:avLst>
              <a:gd name="adj" fmla="val 10526"/>
            </a:avLst>
          </a:prstGeom>
          <a:solidFill>
            <a:srgbClr val="1B3A6B"/>
          </a:solidFill>
          <a:ln w="12700">
            <a:solidFill>
              <a:srgbClr val="1B3A6B"/>
            </a:solidFill>
            <a:prstDash val="solid"/>
          </a:ln>
        </p:spPr>
      </p:sp>
      <p:sp>
        <p:nvSpPr>
          <p:cNvPr id="6" name="Text 4"/>
          <p:cNvSpPr/>
          <p:nvPr/>
        </p:nvSpPr>
        <p:spPr>
          <a:xfrm>
            <a:off x="320040"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320040"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Petri Plate</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Detection</a:t>
            </a:r>
            <a:endParaRPr lang="en-US" sz="850" dirty="0"/>
          </a:p>
        </p:txBody>
      </p:sp>
      <p:sp>
        <p:nvSpPr>
          <p:cNvPr id="8" name="Shape 6"/>
          <p:cNvSpPr/>
          <p:nvPr/>
        </p:nvSpPr>
        <p:spPr>
          <a:xfrm>
            <a:off x="1435608" y="1623060"/>
            <a:ext cx="54864" cy="0"/>
          </a:xfrm>
          <a:prstGeom prst="line">
            <a:avLst/>
          </a:prstGeom>
          <a:noFill/>
          <a:ln w="12700">
            <a:solidFill>
              <a:srgbClr val="028090"/>
            </a:solidFill>
            <a:prstDash val="solid"/>
          </a:ln>
        </p:spPr>
      </p:sp>
      <p:sp>
        <p:nvSpPr>
          <p:cNvPr id="9" name="Shape 7"/>
          <p:cNvSpPr/>
          <p:nvPr/>
        </p:nvSpPr>
        <p:spPr>
          <a:xfrm>
            <a:off x="1490472" y="1188720"/>
            <a:ext cx="1115568" cy="868680"/>
          </a:xfrm>
          <a:prstGeom prst="roundRect">
            <a:avLst>
              <a:gd name="adj" fmla="val 10526"/>
            </a:avLst>
          </a:prstGeom>
          <a:solidFill>
            <a:srgbClr val="028090"/>
          </a:solidFill>
          <a:ln w="12700">
            <a:solidFill>
              <a:srgbClr val="028090"/>
            </a:solidFill>
            <a:prstDash val="solid"/>
          </a:ln>
        </p:spPr>
      </p:sp>
      <p:sp>
        <p:nvSpPr>
          <p:cNvPr id="10" name="Text 8"/>
          <p:cNvSpPr/>
          <p:nvPr/>
        </p:nvSpPr>
        <p:spPr>
          <a:xfrm>
            <a:off x="1490472"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490472"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Agar Mask &amp;</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Reflection Removal</a:t>
            </a:r>
            <a:endParaRPr lang="en-US" sz="850" dirty="0"/>
          </a:p>
        </p:txBody>
      </p:sp>
      <p:sp>
        <p:nvSpPr>
          <p:cNvPr id="12" name="Shape 10"/>
          <p:cNvSpPr/>
          <p:nvPr/>
        </p:nvSpPr>
        <p:spPr>
          <a:xfrm>
            <a:off x="2606040" y="1623060"/>
            <a:ext cx="54864" cy="0"/>
          </a:xfrm>
          <a:prstGeom prst="line">
            <a:avLst/>
          </a:prstGeom>
          <a:noFill/>
          <a:ln w="12700">
            <a:solidFill>
              <a:srgbClr val="028090"/>
            </a:solidFill>
            <a:prstDash val="solid"/>
          </a:ln>
        </p:spPr>
      </p:sp>
      <p:sp>
        <p:nvSpPr>
          <p:cNvPr id="13" name="Shape 11"/>
          <p:cNvSpPr/>
          <p:nvPr/>
        </p:nvSpPr>
        <p:spPr>
          <a:xfrm>
            <a:off x="2660904" y="1188720"/>
            <a:ext cx="1115568" cy="868680"/>
          </a:xfrm>
          <a:prstGeom prst="roundRect">
            <a:avLst>
              <a:gd name="adj" fmla="val 10526"/>
            </a:avLst>
          </a:prstGeom>
          <a:solidFill>
            <a:srgbClr val="0369A1"/>
          </a:solidFill>
          <a:ln w="12700">
            <a:solidFill>
              <a:srgbClr val="0369A1"/>
            </a:solidFill>
            <a:prstDash val="solid"/>
          </a:ln>
        </p:spPr>
      </p:sp>
      <p:sp>
        <p:nvSpPr>
          <p:cNvPr id="14" name="Text 12"/>
          <p:cNvSpPr/>
          <p:nvPr/>
        </p:nvSpPr>
        <p:spPr>
          <a:xfrm>
            <a:off x="2660904"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p:nvPr/>
        </p:nvSpPr>
        <p:spPr>
          <a:xfrm>
            <a:off x="2660904"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CLAHE</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Enhancement</a:t>
            </a:r>
            <a:endParaRPr lang="en-US" sz="850" dirty="0"/>
          </a:p>
        </p:txBody>
      </p:sp>
      <p:sp>
        <p:nvSpPr>
          <p:cNvPr id="16" name="Shape 14"/>
          <p:cNvSpPr/>
          <p:nvPr/>
        </p:nvSpPr>
        <p:spPr>
          <a:xfrm>
            <a:off x="3776472" y="1623060"/>
            <a:ext cx="54864" cy="0"/>
          </a:xfrm>
          <a:prstGeom prst="line">
            <a:avLst/>
          </a:prstGeom>
          <a:noFill/>
          <a:ln w="12700">
            <a:solidFill>
              <a:srgbClr val="028090"/>
            </a:solidFill>
            <a:prstDash val="solid"/>
          </a:ln>
        </p:spPr>
      </p:sp>
      <p:sp>
        <p:nvSpPr>
          <p:cNvPr id="17" name="Shape 15"/>
          <p:cNvSpPr/>
          <p:nvPr/>
        </p:nvSpPr>
        <p:spPr>
          <a:xfrm>
            <a:off x="3831336" y="1188720"/>
            <a:ext cx="1115568" cy="868680"/>
          </a:xfrm>
          <a:prstGeom prst="roundRect">
            <a:avLst>
              <a:gd name="adj" fmla="val 10526"/>
            </a:avLst>
          </a:prstGeom>
          <a:solidFill>
            <a:srgbClr val="028090"/>
          </a:solidFill>
          <a:ln w="12700">
            <a:solidFill>
              <a:srgbClr val="028090"/>
            </a:solidFill>
            <a:prstDash val="solid"/>
          </a:ln>
        </p:spPr>
      </p:sp>
      <p:sp>
        <p:nvSpPr>
          <p:cNvPr id="18" name="Text 16"/>
          <p:cNvSpPr/>
          <p:nvPr/>
        </p:nvSpPr>
        <p:spPr>
          <a:xfrm>
            <a:off x="3831336"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7"/>
          <p:cNvSpPr/>
          <p:nvPr/>
        </p:nvSpPr>
        <p:spPr>
          <a:xfrm>
            <a:off x="3831336"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Adaptive /</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Otsu Threshold</a:t>
            </a:r>
            <a:endParaRPr lang="en-US" sz="850" dirty="0"/>
          </a:p>
        </p:txBody>
      </p:sp>
      <p:sp>
        <p:nvSpPr>
          <p:cNvPr id="20" name="Shape 18"/>
          <p:cNvSpPr/>
          <p:nvPr/>
        </p:nvSpPr>
        <p:spPr>
          <a:xfrm>
            <a:off x="4946904" y="1623060"/>
            <a:ext cx="54864" cy="0"/>
          </a:xfrm>
          <a:prstGeom prst="line">
            <a:avLst/>
          </a:prstGeom>
          <a:noFill/>
          <a:ln w="12700">
            <a:solidFill>
              <a:srgbClr val="028090"/>
            </a:solidFill>
            <a:prstDash val="solid"/>
          </a:ln>
        </p:spPr>
      </p:sp>
      <p:sp>
        <p:nvSpPr>
          <p:cNvPr id="21" name="Shape 19"/>
          <p:cNvSpPr/>
          <p:nvPr/>
        </p:nvSpPr>
        <p:spPr>
          <a:xfrm>
            <a:off x="5001768" y="1188720"/>
            <a:ext cx="1115568" cy="868680"/>
          </a:xfrm>
          <a:prstGeom prst="roundRect">
            <a:avLst>
              <a:gd name="adj" fmla="val 10526"/>
            </a:avLst>
          </a:prstGeom>
          <a:solidFill>
            <a:srgbClr val="1B3A6B"/>
          </a:solidFill>
          <a:ln w="12700">
            <a:solidFill>
              <a:srgbClr val="1B3A6B"/>
            </a:solidFill>
            <a:prstDash val="solid"/>
          </a:ln>
        </p:spPr>
      </p:sp>
      <p:sp>
        <p:nvSpPr>
          <p:cNvPr id="22" name="Text 20"/>
          <p:cNvSpPr/>
          <p:nvPr/>
        </p:nvSpPr>
        <p:spPr>
          <a:xfrm>
            <a:off x="5001768"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3" name="Text 21"/>
          <p:cNvSpPr/>
          <p:nvPr/>
        </p:nvSpPr>
        <p:spPr>
          <a:xfrm>
            <a:off x="5001768"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Watershed</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Segmentation</a:t>
            </a:r>
            <a:endParaRPr lang="en-US" sz="850" dirty="0"/>
          </a:p>
        </p:txBody>
      </p:sp>
      <p:sp>
        <p:nvSpPr>
          <p:cNvPr id="24" name="Shape 22"/>
          <p:cNvSpPr/>
          <p:nvPr/>
        </p:nvSpPr>
        <p:spPr>
          <a:xfrm>
            <a:off x="6117336" y="1623060"/>
            <a:ext cx="54864" cy="0"/>
          </a:xfrm>
          <a:prstGeom prst="line">
            <a:avLst/>
          </a:prstGeom>
          <a:noFill/>
          <a:ln w="12700">
            <a:solidFill>
              <a:srgbClr val="028090"/>
            </a:solidFill>
            <a:prstDash val="solid"/>
          </a:ln>
        </p:spPr>
      </p:sp>
      <p:sp>
        <p:nvSpPr>
          <p:cNvPr id="25" name="Shape 23"/>
          <p:cNvSpPr/>
          <p:nvPr/>
        </p:nvSpPr>
        <p:spPr>
          <a:xfrm>
            <a:off x="6172200" y="1188720"/>
            <a:ext cx="1115568" cy="868680"/>
          </a:xfrm>
          <a:prstGeom prst="roundRect">
            <a:avLst>
              <a:gd name="adj" fmla="val 10526"/>
            </a:avLst>
          </a:prstGeom>
          <a:solidFill>
            <a:srgbClr val="028090"/>
          </a:solidFill>
          <a:ln w="12700">
            <a:solidFill>
              <a:srgbClr val="028090"/>
            </a:solidFill>
            <a:prstDash val="solid"/>
          </a:ln>
        </p:spPr>
      </p:sp>
      <p:sp>
        <p:nvSpPr>
          <p:cNvPr id="26" name="Text 24"/>
          <p:cNvSpPr/>
          <p:nvPr/>
        </p:nvSpPr>
        <p:spPr>
          <a:xfrm>
            <a:off x="6172200"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7" name="Text 25"/>
          <p:cNvSpPr/>
          <p:nvPr/>
        </p:nvSpPr>
        <p:spPr>
          <a:xfrm>
            <a:off x="6172200"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Colony</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Filtering</a:t>
            </a:r>
            <a:endParaRPr lang="en-US" sz="850" dirty="0"/>
          </a:p>
        </p:txBody>
      </p:sp>
      <p:sp>
        <p:nvSpPr>
          <p:cNvPr id="28" name="Shape 26"/>
          <p:cNvSpPr/>
          <p:nvPr/>
        </p:nvSpPr>
        <p:spPr>
          <a:xfrm>
            <a:off x="7287768" y="1623060"/>
            <a:ext cx="54864" cy="0"/>
          </a:xfrm>
          <a:prstGeom prst="line">
            <a:avLst/>
          </a:prstGeom>
          <a:noFill/>
          <a:ln w="12700">
            <a:solidFill>
              <a:srgbClr val="028090"/>
            </a:solidFill>
            <a:prstDash val="solid"/>
          </a:ln>
        </p:spPr>
      </p:sp>
      <p:sp>
        <p:nvSpPr>
          <p:cNvPr id="29" name="Shape 27"/>
          <p:cNvSpPr/>
          <p:nvPr/>
        </p:nvSpPr>
        <p:spPr>
          <a:xfrm>
            <a:off x="7342632" y="1188720"/>
            <a:ext cx="1115568" cy="868680"/>
          </a:xfrm>
          <a:prstGeom prst="roundRect">
            <a:avLst>
              <a:gd name="adj" fmla="val 10526"/>
            </a:avLst>
          </a:prstGeom>
          <a:solidFill>
            <a:srgbClr val="028090"/>
          </a:solidFill>
          <a:ln w="12700">
            <a:solidFill>
              <a:srgbClr val="028090"/>
            </a:solidFill>
            <a:prstDash val="solid"/>
          </a:ln>
        </p:spPr>
      </p:sp>
      <p:sp>
        <p:nvSpPr>
          <p:cNvPr id="30" name="Text 28"/>
          <p:cNvSpPr/>
          <p:nvPr/>
        </p:nvSpPr>
        <p:spPr>
          <a:xfrm>
            <a:off x="7342632" y="1225296"/>
            <a:ext cx="1115568" cy="256032"/>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31" name="Text 29"/>
          <p:cNvSpPr/>
          <p:nvPr/>
        </p:nvSpPr>
        <p:spPr>
          <a:xfrm>
            <a:off x="7342632" y="1463040"/>
            <a:ext cx="1115568" cy="530352"/>
          </a:xfrm>
          <a:prstGeom prst="rect">
            <a:avLst/>
          </a:prstGeom>
          <a:noFill/>
          <a:ln/>
        </p:spPr>
        <p:txBody>
          <a:bodyPr wrap="square"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Count &amp;</a:t>
            </a:r>
            <a:endParaRPr lang="en-US" sz="850" dirty="0"/>
          </a:p>
          <a:p>
            <a:pPr marL="0" indent="0" algn="ctr">
              <a:buNone/>
            </a:pPr>
            <a:r>
              <a:rPr lang="en-US" sz="850" dirty="0">
                <a:solidFill>
                  <a:srgbClr val="FFFFFF"/>
                </a:solidFill>
                <a:latin typeface="Arial" pitchFamily="34" charset="0"/>
                <a:ea typeface="Arial" pitchFamily="34" charset="-122"/>
                <a:cs typeface="Arial" pitchFamily="34" charset="-120"/>
              </a:rPr>
              <a:t>RF Assessment</a:t>
            </a:r>
            <a:endParaRPr lang="en-US" sz="850" dirty="0"/>
          </a:p>
        </p:txBody>
      </p:sp>
      <p:sp>
        <p:nvSpPr>
          <p:cNvPr id="32" name="Shape 30"/>
          <p:cNvSpPr/>
          <p:nvPr/>
        </p:nvSpPr>
        <p:spPr>
          <a:xfrm>
            <a:off x="4526280" y="2057400"/>
            <a:ext cx="0" cy="640080"/>
          </a:xfrm>
          <a:prstGeom prst="line">
            <a:avLst/>
          </a:prstGeom>
          <a:noFill/>
          <a:ln w="12700">
            <a:solidFill>
              <a:srgbClr val="64748B"/>
            </a:solidFill>
            <a:prstDash val="dash"/>
          </a:ln>
        </p:spPr>
      </p:sp>
      <p:sp>
        <p:nvSpPr>
          <p:cNvPr id="33" name="Shape 31"/>
          <p:cNvSpPr/>
          <p:nvPr/>
        </p:nvSpPr>
        <p:spPr>
          <a:xfrm>
            <a:off x="1920240" y="2724912"/>
            <a:ext cx="2468880" cy="685800"/>
          </a:xfrm>
          <a:prstGeom prst="roundRect">
            <a:avLst>
              <a:gd name="adj" fmla="val 13333"/>
            </a:avLst>
          </a:prstGeom>
          <a:solidFill>
            <a:srgbClr val="E8F4F8"/>
          </a:solidFill>
          <a:ln w="12700">
            <a:solidFill>
              <a:srgbClr val="028090"/>
            </a:solidFill>
            <a:prstDash val="solid"/>
          </a:ln>
        </p:spPr>
      </p:sp>
      <p:sp>
        <p:nvSpPr>
          <p:cNvPr id="34" name="Text 32"/>
          <p:cNvSpPr/>
          <p:nvPr/>
        </p:nvSpPr>
        <p:spPr>
          <a:xfrm>
            <a:off x="1920240" y="2724912"/>
            <a:ext cx="2468880" cy="685800"/>
          </a:xfrm>
          <a:prstGeom prst="rect">
            <a:avLst/>
          </a:prstGeom>
          <a:noFill/>
          <a:ln/>
        </p:spPr>
        <p:txBody>
          <a:bodyPr wrap="square" rtlCol="0" anchor="ctr"/>
          <a:lstStyle/>
          <a:p>
            <a:pPr marL="0" indent="0" algn="ctr">
              <a:buNone/>
            </a:pPr>
            <a:r>
              <a:rPr lang="en-US" sz="1000" dirty="0">
                <a:solidFill>
                  <a:srgbClr val="1B3A6B"/>
                </a:solidFill>
                <a:latin typeface="Arial" pitchFamily="34" charset="0"/>
                <a:ea typeface="Arial" pitchFamily="34" charset="-122"/>
                <a:cs typeface="Arial" pitchFamily="34" charset="-120"/>
              </a:rPr>
              <a:t>🔢  Automatic Colony Count</a:t>
            </a:r>
            <a:endParaRPr lang="en-US" sz="1000" dirty="0"/>
          </a:p>
          <a:p>
            <a:pPr marL="0" indent="0" algn="ctr">
              <a:buNone/>
            </a:pPr>
            <a:r>
              <a:rPr lang="en-US" sz="1000" dirty="0">
                <a:solidFill>
                  <a:srgbClr val="1B3A6B"/>
                </a:solidFill>
                <a:latin typeface="Arial" pitchFamily="34" charset="0"/>
                <a:ea typeface="Arial" pitchFamily="34" charset="-122"/>
                <a:cs typeface="Arial" pitchFamily="34" charset="-120"/>
              </a:rPr>
              <a:t>+ CFU/mL Estimate</a:t>
            </a:r>
            <a:endParaRPr lang="en-US" sz="1000" dirty="0"/>
          </a:p>
        </p:txBody>
      </p:sp>
      <p:sp>
        <p:nvSpPr>
          <p:cNvPr id="35" name="Shape 33"/>
          <p:cNvSpPr/>
          <p:nvPr/>
        </p:nvSpPr>
        <p:spPr>
          <a:xfrm>
            <a:off x="4754880" y="2724912"/>
            <a:ext cx="2468880" cy="685800"/>
          </a:xfrm>
          <a:prstGeom prst="roundRect">
            <a:avLst>
              <a:gd name="adj" fmla="val 13333"/>
            </a:avLst>
          </a:prstGeom>
          <a:solidFill>
            <a:srgbClr val="E8F4F8"/>
          </a:solidFill>
          <a:ln w="12700">
            <a:solidFill>
              <a:srgbClr val="1B3A6B"/>
            </a:solidFill>
            <a:prstDash val="solid"/>
          </a:ln>
        </p:spPr>
      </p:sp>
      <p:sp>
        <p:nvSpPr>
          <p:cNvPr id="36" name="Text 34"/>
          <p:cNvSpPr/>
          <p:nvPr/>
        </p:nvSpPr>
        <p:spPr>
          <a:xfrm>
            <a:off x="4754880" y="2724912"/>
            <a:ext cx="2468880" cy="685800"/>
          </a:xfrm>
          <a:prstGeom prst="rect">
            <a:avLst/>
          </a:prstGeom>
          <a:noFill/>
          <a:ln/>
        </p:spPr>
        <p:txBody>
          <a:bodyPr wrap="square" rtlCol="0" anchor="ctr"/>
          <a:lstStyle/>
          <a:p>
            <a:pPr marL="0" indent="0" algn="ctr">
              <a:buNone/>
            </a:pPr>
            <a:r>
              <a:rPr lang="en-US" sz="1000" dirty="0">
                <a:solidFill>
                  <a:srgbClr val="1B3A6B"/>
                </a:solidFill>
                <a:latin typeface="Arial" pitchFamily="34" charset="0"/>
                <a:ea typeface="Arial" pitchFamily="34" charset="-122"/>
                <a:cs typeface="Arial" pitchFamily="34" charset="-120"/>
              </a:rPr>
              <a:t>🤖  RF Plate Assessment</a:t>
            </a:r>
            <a:endParaRPr lang="en-US" sz="1000" dirty="0"/>
          </a:p>
          <a:p>
            <a:pPr marL="0" indent="0" algn="ctr">
              <a:buNone/>
            </a:pPr>
            <a:r>
              <a:rPr lang="en-US" sz="1000" dirty="0">
                <a:solidFill>
                  <a:srgbClr val="1B3A6B"/>
                </a:solidFill>
                <a:latin typeface="Arial" pitchFamily="34" charset="0"/>
                <a:ea typeface="Arial" pitchFamily="34" charset="-122"/>
                <a:cs typeface="Arial" pitchFamily="34" charset="-120"/>
              </a:rPr>
              <a:t>Countable / TFTC / TNTC</a:t>
            </a:r>
            <a:endParaRPr lang="en-US" sz="1000" dirty="0"/>
          </a:p>
        </p:txBody>
      </p:sp>
      <p:sp>
        <p:nvSpPr>
          <p:cNvPr id="37" name="Text 35"/>
          <p:cNvSpPr/>
          <p:nvPr/>
        </p:nvSpPr>
        <p:spPr>
          <a:xfrm>
            <a:off x="411480" y="3547872"/>
            <a:ext cx="8321040" cy="320040"/>
          </a:xfrm>
          <a:prstGeom prst="rect">
            <a:avLst/>
          </a:prstGeom>
          <a:noFill/>
          <a:ln/>
        </p:spPr>
        <p:txBody>
          <a:bodyPr wrap="square" rtlCol="0" anchor="ctr"/>
          <a:lstStyle/>
          <a:p>
            <a:pPr marL="0" indent="0" algn="ctr">
              <a:buNone/>
            </a:pPr>
            <a:r>
              <a:rPr lang="en-US" sz="950" dirty="0">
                <a:solidFill>
                  <a:srgbClr val="64748B"/>
                </a:solidFill>
                <a:latin typeface="Arial" pitchFamily="34" charset="0"/>
                <a:ea typeface="Arial" pitchFamily="34" charset="-122"/>
                <a:cs typeface="Arial" pitchFamily="34" charset="-120"/>
              </a:rPr>
              <a:t>Colony filters applied: Area  ·  Circularity  ·  Solidity  ·  Extent  ·  Aspect Ratio  ·  Duplicate Suppression</a:t>
            </a:r>
            <a:endParaRPr lang="en-US" sz="950" dirty="0"/>
          </a:p>
        </p:txBody>
      </p:sp>
      <p:sp>
        <p:nvSpPr>
          <p:cNvPr id="38" name="Text 36"/>
          <p:cNvSpPr/>
          <p:nvPr/>
        </p:nvSpPr>
        <p:spPr>
          <a:xfrm>
            <a:off x="411480" y="3858768"/>
            <a:ext cx="8321040" cy="320040"/>
          </a:xfrm>
          <a:prstGeom prst="rect">
            <a:avLst/>
          </a:prstGeom>
          <a:noFill/>
          <a:ln/>
        </p:spPr>
        <p:txBody>
          <a:bodyPr wrap="square" rtlCol="0" anchor="ctr"/>
          <a:lstStyle/>
          <a:p>
            <a:pPr marL="0" indent="0" algn="ctr">
              <a:buNone/>
            </a:pPr>
            <a:r>
              <a:rPr lang="en-US" sz="950" dirty="0">
                <a:solidFill>
                  <a:srgbClr val="64748B"/>
                </a:solidFill>
                <a:latin typeface="Arial" pitchFamily="34" charset="0"/>
                <a:ea typeface="Arial" pitchFamily="34" charset="-122"/>
                <a:cs typeface="Arial" pitchFamily="34" charset="-120"/>
              </a:rPr>
              <a:t>RF Features (8): Coverage Ratio · Component Count · Mean/Std/Max Area · Brightness Mean/Std · Edge Density</a:t>
            </a:r>
            <a:endParaRPr lang="en-US" sz="9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COUNTING METHODS</a:t>
            </a:r>
            <a:endParaRPr lang="en-US" sz="900" dirty="0"/>
          </a:p>
        </p:txBody>
      </p:sp>
      <p:sp>
        <p:nvSpPr>
          <p:cNvPr id="4" name="Text 2"/>
          <p:cNvSpPr/>
          <p:nvPr/>
        </p:nvSpPr>
        <p:spPr>
          <a:xfrm>
            <a:off x="411480" y="566928"/>
            <a:ext cx="8321040" cy="45720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Four Independent Counting Algorithms</a:t>
            </a:r>
            <a:endParaRPr lang="en-US" sz="2600" dirty="0"/>
          </a:p>
        </p:txBody>
      </p:sp>
      <p:sp>
        <p:nvSpPr>
          <p:cNvPr id="5" name="Shape 3"/>
          <p:cNvSpPr/>
          <p:nvPr/>
        </p:nvSpPr>
        <p:spPr>
          <a:xfrm>
            <a:off x="411480" y="1188720"/>
            <a:ext cx="4023360" cy="1691640"/>
          </a:xfrm>
          <a:prstGeom prst="roundRect">
            <a:avLst>
              <a:gd name="adj" fmla="val 6486"/>
            </a:avLst>
          </a:prstGeom>
          <a:solidFill>
            <a:srgbClr val="F1F5F9"/>
          </a:solidFill>
          <a:ln w="12700">
            <a:solidFill>
              <a:srgbClr val="E2E8F0"/>
            </a:solidFill>
            <a:prstDash val="solid"/>
          </a:ln>
          <a:effectLst>
            <a:outerShdw blurRad="101600" dist="38100" dir="2700000" algn="bl" rotWithShape="0">
              <a:srgbClr val="000000">
                <a:alpha val="13000"/>
              </a:srgbClr>
            </a:outerShdw>
          </a:effectLst>
        </p:spPr>
      </p:sp>
      <p:sp>
        <p:nvSpPr>
          <p:cNvPr id="6" name="Shape 4"/>
          <p:cNvSpPr/>
          <p:nvPr/>
        </p:nvSpPr>
        <p:spPr>
          <a:xfrm>
            <a:off x="521208" y="1298448"/>
            <a:ext cx="914400" cy="310896"/>
          </a:xfrm>
          <a:prstGeom prst="roundRect">
            <a:avLst>
              <a:gd name="adj" fmla="val 17647"/>
            </a:avLst>
          </a:prstGeom>
          <a:solidFill>
            <a:srgbClr val="475569"/>
          </a:solidFill>
          <a:ln w="12700">
            <a:solidFill>
              <a:srgbClr val="475569"/>
            </a:solidFill>
            <a:prstDash val="solid"/>
          </a:ln>
        </p:spPr>
      </p:sp>
      <p:sp>
        <p:nvSpPr>
          <p:cNvPr id="7" name="Text 5"/>
          <p:cNvSpPr/>
          <p:nvPr/>
        </p:nvSpPr>
        <p:spPr>
          <a:xfrm>
            <a:off x="521208" y="1298448"/>
            <a:ext cx="914400"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Baseline</a:t>
            </a:r>
            <a:endParaRPr lang="en-US" sz="800" dirty="0"/>
          </a:p>
        </p:txBody>
      </p:sp>
      <p:sp>
        <p:nvSpPr>
          <p:cNvPr id="8" name="Text 6"/>
          <p:cNvSpPr/>
          <p:nvPr/>
        </p:nvSpPr>
        <p:spPr>
          <a:xfrm>
            <a:off x="576072" y="1682496"/>
            <a:ext cx="3749040" cy="347472"/>
          </a:xfrm>
          <a:prstGeom prst="rect">
            <a:avLst/>
          </a:prstGeom>
          <a:noFill/>
          <a:ln/>
        </p:spPr>
        <p:txBody>
          <a:bodyPr wrap="square" rtlCol="0" anchor="ctr"/>
          <a:lstStyle/>
          <a:p>
            <a:pPr marL="0" indent="0">
              <a:buNone/>
            </a:pPr>
            <a:r>
              <a:rPr lang="en-US" sz="1300" b="1" dirty="0">
                <a:solidFill>
                  <a:srgbClr val="1B3A6B"/>
                </a:solidFill>
                <a:latin typeface="Arial" pitchFamily="34" charset="0"/>
                <a:ea typeface="Arial" pitchFamily="34" charset="-122"/>
                <a:cs typeface="Arial" pitchFamily="34" charset="-120"/>
              </a:rPr>
              <a:t>🔵  Connected Components</a:t>
            </a:r>
            <a:endParaRPr lang="en-US" sz="1300" dirty="0"/>
          </a:p>
        </p:txBody>
      </p:sp>
      <p:sp>
        <p:nvSpPr>
          <p:cNvPr id="9" name="Text 7"/>
          <p:cNvSpPr/>
          <p:nvPr/>
        </p:nvSpPr>
        <p:spPr>
          <a:xfrm>
            <a:off x="576072" y="2048256"/>
            <a:ext cx="3749040" cy="685800"/>
          </a:xfrm>
          <a:prstGeom prst="rect">
            <a:avLst/>
          </a:prstGeom>
          <a:noFill/>
          <a:ln/>
        </p:spPr>
        <p:txBody>
          <a:bodyPr wrap="square" rtlCol="0" anchor="t"/>
          <a:lstStyle/>
          <a:p>
            <a:pPr marL="0" indent="0">
              <a:buNone/>
            </a:pPr>
            <a:r>
              <a:rPr lang="en-US" sz="1000" dirty="0">
                <a:solidFill>
                  <a:srgbClr val="64748B"/>
                </a:solidFill>
                <a:latin typeface="Arial" pitchFamily="34" charset="0"/>
                <a:ea typeface="Arial" pitchFamily="34" charset="-122"/>
                <a:cs typeface="Arial" pitchFamily="34" charset="-120"/>
              </a:rPr>
              <a:t>Standard blob labelling on binary mask. No watershed. Tends to merge touching colonies.</a:t>
            </a:r>
            <a:endParaRPr lang="en-US" sz="1000" dirty="0"/>
          </a:p>
        </p:txBody>
      </p:sp>
      <p:sp>
        <p:nvSpPr>
          <p:cNvPr id="10" name="Shape 8"/>
          <p:cNvSpPr/>
          <p:nvPr/>
        </p:nvSpPr>
        <p:spPr>
          <a:xfrm>
            <a:off x="4709160" y="1188720"/>
            <a:ext cx="4023360" cy="1691640"/>
          </a:xfrm>
          <a:prstGeom prst="roundRect">
            <a:avLst>
              <a:gd name="adj" fmla="val 6486"/>
            </a:avLst>
          </a:prstGeom>
          <a:solidFill>
            <a:srgbClr val="F1F5F9"/>
          </a:solidFill>
          <a:ln w="12700">
            <a:solidFill>
              <a:srgbClr val="E2E8F0"/>
            </a:solidFill>
            <a:prstDash val="solid"/>
          </a:ln>
          <a:effectLst>
            <a:outerShdw blurRad="101600" dist="38100" dir="2700000" algn="bl" rotWithShape="0">
              <a:srgbClr val="000000">
                <a:alpha val="13000"/>
              </a:srgbClr>
            </a:outerShdw>
          </a:effectLst>
        </p:spPr>
      </p:sp>
      <p:sp>
        <p:nvSpPr>
          <p:cNvPr id="11" name="Shape 9"/>
          <p:cNvSpPr/>
          <p:nvPr/>
        </p:nvSpPr>
        <p:spPr>
          <a:xfrm>
            <a:off x="4818888" y="1298448"/>
            <a:ext cx="914400" cy="310896"/>
          </a:xfrm>
          <a:prstGeom prst="roundRect">
            <a:avLst>
              <a:gd name="adj" fmla="val 17647"/>
            </a:avLst>
          </a:prstGeom>
          <a:solidFill>
            <a:srgbClr val="028090"/>
          </a:solidFill>
          <a:ln w="12700">
            <a:solidFill>
              <a:srgbClr val="028090"/>
            </a:solidFill>
            <a:prstDash val="solid"/>
          </a:ln>
        </p:spPr>
      </p:sp>
      <p:sp>
        <p:nvSpPr>
          <p:cNvPr id="12" name="Text 10"/>
          <p:cNvSpPr/>
          <p:nvPr/>
        </p:nvSpPr>
        <p:spPr>
          <a:xfrm>
            <a:off x="4818888" y="1298448"/>
            <a:ext cx="914400"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 Improved</a:t>
            </a:r>
            <a:endParaRPr lang="en-US" sz="800" dirty="0"/>
          </a:p>
        </p:txBody>
      </p:sp>
      <p:sp>
        <p:nvSpPr>
          <p:cNvPr id="13" name="Text 11"/>
          <p:cNvSpPr/>
          <p:nvPr/>
        </p:nvSpPr>
        <p:spPr>
          <a:xfrm>
            <a:off x="4873752" y="1682496"/>
            <a:ext cx="3749040" cy="347472"/>
          </a:xfrm>
          <a:prstGeom prst="rect">
            <a:avLst/>
          </a:prstGeom>
          <a:noFill/>
          <a:ln/>
        </p:spPr>
        <p:txBody>
          <a:bodyPr wrap="square" rtlCol="0" anchor="ctr"/>
          <a:lstStyle/>
          <a:p>
            <a:pPr marL="0" indent="0">
              <a:buNone/>
            </a:pPr>
            <a:r>
              <a:rPr lang="en-US" sz="1300" b="1" dirty="0">
                <a:solidFill>
                  <a:srgbClr val="1B3A6B"/>
                </a:solidFill>
                <a:latin typeface="Arial" pitchFamily="34" charset="0"/>
                <a:ea typeface="Arial" pitchFamily="34" charset="-122"/>
                <a:cs typeface="Arial" pitchFamily="34" charset="-120"/>
              </a:rPr>
              <a:t>🌊  Marker-Controlled Watershed</a:t>
            </a:r>
            <a:endParaRPr lang="en-US" sz="1300" dirty="0"/>
          </a:p>
        </p:txBody>
      </p:sp>
      <p:sp>
        <p:nvSpPr>
          <p:cNvPr id="14" name="Text 12"/>
          <p:cNvSpPr/>
          <p:nvPr/>
        </p:nvSpPr>
        <p:spPr>
          <a:xfrm>
            <a:off x="4873752" y="2048256"/>
            <a:ext cx="3749040" cy="685800"/>
          </a:xfrm>
          <a:prstGeom prst="rect">
            <a:avLst/>
          </a:prstGeom>
          <a:noFill/>
          <a:ln/>
        </p:spPr>
        <p:txBody>
          <a:bodyPr wrap="square" rtlCol="0" anchor="t"/>
          <a:lstStyle/>
          <a:p>
            <a:pPr marL="0" indent="0">
              <a:buNone/>
            </a:pPr>
            <a:r>
              <a:rPr lang="en-US" sz="1000" dirty="0">
                <a:solidFill>
                  <a:srgbClr val="64748B"/>
                </a:solidFill>
                <a:latin typeface="Arial" pitchFamily="34" charset="0"/>
                <a:ea typeface="Arial" pitchFamily="34" charset="-122"/>
                <a:cs typeface="Arial" pitchFamily="34" charset="-120"/>
              </a:rPr>
              <a:t>Distance transform + local maxima markers guide watershed to separate touching colonies.</a:t>
            </a:r>
            <a:endParaRPr lang="en-US" sz="1000" dirty="0"/>
          </a:p>
        </p:txBody>
      </p:sp>
      <p:sp>
        <p:nvSpPr>
          <p:cNvPr id="15" name="Shape 13"/>
          <p:cNvSpPr/>
          <p:nvPr/>
        </p:nvSpPr>
        <p:spPr>
          <a:xfrm>
            <a:off x="411480" y="3063240"/>
            <a:ext cx="4023360" cy="1691640"/>
          </a:xfrm>
          <a:prstGeom prst="roundRect">
            <a:avLst>
              <a:gd name="adj" fmla="val 6486"/>
            </a:avLst>
          </a:prstGeom>
          <a:solidFill>
            <a:srgbClr val="F1F5F9"/>
          </a:solidFill>
          <a:ln w="12700">
            <a:solidFill>
              <a:srgbClr val="E2E8F0"/>
            </a:solidFill>
            <a:prstDash val="solid"/>
          </a:ln>
          <a:effectLst>
            <a:outerShdw blurRad="101600" dist="38100" dir="2700000" algn="bl" rotWithShape="0">
              <a:srgbClr val="000000">
                <a:alpha val="13000"/>
              </a:srgbClr>
            </a:outerShdw>
          </a:effectLst>
        </p:spPr>
      </p:sp>
      <p:sp>
        <p:nvSpPr>
          <p:cNvPr id="16" name="Shape 14"/>
          <p:cNvSpPr/>
          <p:nvPr/>
        </p:nvSpPr>
        <p:spPr>
          <a:xfrm>
            <a:off x="521208" y="3172968"/>
            <a:ext cx="914400" cy="310896"/>
          </a:xfrm>
          <a:prstGeom prst="roundRect">
            <a:avLst>
              <a:gd name="adj" fmla="val 17647"/>
            </a:avLst>
          </a:prstGeom>
          <a:solidFill>
            <a:srgbClr val="7C3AED"/>
          </a:solidFill>
          <a:ln w="12700">
            <a:solidFill>
              <a:srgbClr val="7C3AED"/>
            </a:solidFill>
            <a:prstDash val="solid"/>
          </a:ln>
        </p:spPr>
      </p:sp>
      <p:sp>
        <p:nvSpPr>
          <p:cNvPr id="17" name="Text 15"/>
          <p:cNvSpPr/>
          <p:nvPr/>
        </p:nvSpPr>
        <p:spPr>
          <a:xfrm>
            <a:off x="521208" y="3172968"/>
            <a:ext cx="914400"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Blob Detector</a:t>
            </a:r>
            <a:endParaRPr lang="en-US" sz="800" dirty="0"/>
          </a:p>
        </p:txBody>
      </p:sp>
      <p:sp>
        <p:nvSpPr>
          <p:cNvPr id="18" name="Text 16"/>
          <p:cNvSpPr/>
          <p:nvPr/>
        </p:nvSpPr>
        <p:spPr>
          <a:xfrm>
            <a:off x="576072" y="3557016"/>
            <a:ext cx="3749040" cy="347472"/>
          </a:xfrm>
          <a:prstGeom prst="rect">
            <a:avLst/>
          </a:prstGeom>
          <a:noFill/>
          <a:ln/>
        </p:spPr>
        <p:txBody>
          <a:bodyPr wrap="square" rtlCol="0" anchor="ctr"/>
          <a:lstStyle/>
          <a:p>
            <a:pPr marL="0" indent="0">
              <a:buNone/>
            </a:pPr>
            <a:r>
              <a:rPr lang="en-US" sz="1300" b="1" dirty="0">
                <a:solidFill>
                  <a:srgbClr val="1B3A6B"/>
                </a:solidFill>
                <a:latin typeface="Arial" pitchFamily="34" charset="0"/>
                <a:ea typeface="Arial" pitchFamily="34" charset="-122"/>
                <a:cs typeface="Arial" pitchFamily="34" charset="-120"/>
              </a:rPr>
              <a:t>🔬  Laplacian of Gaussian</a:t>
            </a:r>
            <a:endParaRPr lang="en-US" sz="1300" dirty="0"/>
          </a:p>
        </p:txBody>
      </p:sp>
      <p:sp>
        <p:nvSpPr>
          <p:cNvPr id="19" name="Text 17"/>
          <p:cNvSpPr/>
          <p:nvPr/>
        </p:nvSpPr>
        <p:spPr>
          <a:xfrm>
            <a:off x="576072" y="3922776"/>
            <a:ext cx="3749040" cy="685800"/>
          </a:xfrm>
          <a:prstGeom prst="rect">
            <a:avLst/>
          </a:prstGeom>
          <a:noFill/>
          <a:ln/>
        </p:spPr>
        <p:txBody>
          <a:bodyPr wrap="square" rtlCol="0" anchor="t"/>
          <a:lstStyle/>
          <a:p>
            <a:pPr marL="0" indent="0">
              <a:buNone/>
            </a:pPr>
            <a:r>
              <a:rPr lang="en-US" sz="1000" dirty="0">
                <a:solidFill>
                  <a:srgbClr val="64748B"/>
                </a:solidFill>
                <a:latin typeface="Arial" pitchFamily="34" charset="0"/>
                <a:ea typeface="Arial" pitchFamily="34" charset="-122"/>
                <a:cs typeface="Arial" pitchFamily="34" charset="-120"/>
              </a:rPr>
              <a:t>Scale-space blob detection. Independent reference; over-detects at high density (MAPE 143%).</a:t>
            </a:r>
            <a:endParaRPr lang="en-US" sz="1000" dirty="0"/>
          </a:p>
        </p:txBody>
      </p:sp>
      <p:sp>
        <p:nvSpPr>
          <p:cNvPr id="20" name="Shape 18"/>
          <p:cNvSpPr/>
          <p:nvPr/>
        </p:nvSpPr>
        <p:spPr>
          <a:xfrm>
            <a:off x="4709160" y="3063240"/>
            <a:ext cx="4023360" cy="1691640"/>
          </a:xfrm>
          <a:prstGeom prst="roundRect">
            <a:avLst>
              <a:gd name="adj" fmla="val 6486"/>
            </a:avLst>
          </a:prstGeom>
          <a:solidFill>
            <a:srgbClr val="F1F5F9"/>
          </a:solidFill>
          <a:ln w="12700">
            <a:solidFill>
              <a:srgbClr val="E2E8F0"/>
            </a:solidFill>
            <a:prstDash val="solid"/>
          </a:ln>
          <a:effectLst>
            <a:outerShdw blurRad="101600" dist="38100" dir="2700000" algn="bl" rotWithShape="0">
              <a:srgbClr val="000000">
                <a:alpha val="13000"/>
              </a:srgbClr>
            </a:outerShdw>
          </a:effectLst>
        </p:spPr>
      </p:sp>
      <p:sp>
        <p:nvSpPr>
          <p:cNvPr id="21" name="Shape 19"/>
          <p:cNvSpPr/>
          <p:nvPr/>
        </p:nvSpPr>
        <p:spPr>
          <a:xfrm>
            <a:off x="4818888" y="3172968"/>
            <a:ext cx="914400" cy="310896"/>
          </a:xfrm>
          <a:prstGeom prst="roundRect">
            <a:avLst>
              <a:gd name="adj" fmla="val 17647"/>
            </a:avLst>
          </a:prstGeom>
          <a:solidFill>
            <a:srgbClr val="1B3A6B"/>
          </a:solidFill>
          <a:ln w="12700">
            <a:solidFill>
              <a:srgbClr val="1B3A6B"/>
            </a:solidFill>
            <a:prstDash val="solid"/>
          </a:ln>
        </p:spPr>
      </p:sp>
      <p:sp>
        <p:nvSpPr>
          <p:cNvPr id="22" name="Text 20"/>
          <p:cNvSpPr/>
          <p:nvPr/>
        </p:nvSpPr>
        <p:spPr>
          <a:xfrm>
            <a:off x="4818888" y="3172968"/>
            <a:ext cx="914400"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 Final Output</a:t>
            </a:r>
            <a:endParaRPr lang="en-US" sz="800" dirty="0"/>
          </a:p>
        </p:txBody>
      </p:sp>
      <p:sp>
        <p:nvSpPr>
          <p:cNvPr id="23" name="Text 21"/>
          <p:cNvSpPr/>
          <p:nvPr/>
        </p:nvSpPr>
        <p:spPr>
          <a:xfrm>
            <a:off x="4873752" y="3557016"/>
            <a:ext cx="3749040" cy="347472"/>
          </a:xfrm>
          <a:prstGeom prst="rect">
            <a:avLst/>
          </a:prstGeom>
          <a:noFill/>
          <a:ln/>
        </p:spPr>
        <p:txBody>
          <a:bodyPr wrap="square" rtlCol="0" anchor="ctr"/>
          <a:lstStyle/>
          <a:p>
            <a:pPr marL="0" indent="0">
              <a:buNone/>
            </a:pPr>
            <a:r>
              <a:rPr lang="en-US" sz="1300" b="1" dirty="0">
                <a:solidFill>
                  <a:srgbClr val="1B3A6B"/>
                </a:solidFill>
                <a:latin typeface="Arial" pitchFamily="34" charset="0"/>
                <a:ea typeface="Arial" pitchFamily="34" charset="-122"/>
                <a:cs typeface="Arial" pitchFamily="34" charset="-120"/>
              </a:rPr>
              <a:t>🎯  Consensus Counter</a:t>
            </a:r>
            <a:endParaRPr lang="en-US" sz="1300" dirty="0"/>
          </a:p>
        </p:txBody>
      </p:sp>
      <p:sp>
        <p:nvSpPr>
          <p:cNvPr id="24" name="Text 22"/>
          <p:cNvSpPr/>
          <p:nvPr/>
        </p:nvSpPr>
        <p:spPr>
          <a:xfrm>
            <a:off x="4873752" y="3922776"/>
            <a:ext cx="3749040" cy="685800"/>
          </a:xfrm>
          <a:prstGeom prst="rect">
            <a:avLst/>
          </a:prstGeom>
          <a:noFill/>
          <a:ln/>
        </p:spPr>
        <p:txBody>
          <a:bodyPr wrap="square" rtlCol="0" anchor="t"/>
          <a:lstStyle/>
          <a:p>
            <a:pPr marL="0" indent="0">
              <a:buNone/>
            </a:pPr>
            <a:r>
              <a:rPr lang="en-US" sz="1000" dirty="0">
                <a:solidFill>
                  <a:srgbClr val="64748B"/>
                </a:solidFill>
                <a:latin typeface="Arial" pitchFamily="34" charset="0"/>
                <a:ea typeface="Arial" pitchFamily="34" charset="-122"/>
                <a:cs typeface="Arial" pitchFamily="34" charset="-120"/>
              </a:rPr>
              <a:t>Weighted combination of all methods. Best overall accuracy (MAE 42.12, R² 0.422).</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QUANTITATIVE RESULTS</a:t>
            </a:r>
            <a:endParaRPr lang="en-US" sz="900" dirty="0"/>
          </a:p>
        </p:txBody>
      </p:sp>
      <p:sp>
        <p:nvSpPr>
          <p:cNvPr id="4" name="Text 2"/>
          <p:cNvSpPr/>
          <p:nvPr/>
        </p:nvSpPr>
        <p:spPr>
          <a:xfrm>
            <a:off x="411480" y="566928"/>
            <a:ext cx="8321040" cy="45720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Baseline vs. Improved: Method Comparison</a:t>
            </a:r>
            <a:endParaRPr lang="en-US" sz="2600" dirty="0"/>
          </a:p>
        </p:txBody>
      </p:sp>
      <p:sp>
        <p:nvSpPr>
          <p:cNvPr id="5" name="Shape 3"/>
          <p:cNvSpPr/>
          <p:nvPr/>
        </p:nvSpPr>
        <p:spPr>
          <a:xfrm>
            <a:off x="411480" y="1170432"/>
            <a:ext cx="2651760" cy="365760"/>
          </a:xfrm>
          <a:prstGeom prst="rect">
            <a:avLst/>
          </a:prstGeom>
          <a:solidFill>
            <a:srgbClr val="1B3A6B"/>
          </a:solidFill>
          <a:ln w="12700">
            <a:solidFill>
              <a:srgbClr val="1B3A6B"/>
            </a:solidFill>
            <a:prstDash val="solid"/>
          </a:ln>
        </p:spPr>
      </p:sp>
      <p:sp>
        <p:nvSpPr>
          <p:cNvPr id="6" name="Text 4"/>
          <p:cNvSpPr/>
          <p:nvPr/>
        </p:nvSpPr>
        <p:spPr>
          <a:xfrm>
            <a:off x="411480" y="1170432"/>
            <a:ext cx="2651760" cy="365760"/>
          </a:xfrm>
          <a:prstGeom prst="rect">
            <a:avLst/>
          </a:prstGeom>
          <a:noFill/>
          <a:ln/>
        </p:spPr>
        <p:txBody>
          <a:bodyPr wrap="square" lIns="101600" tIns="101600" rIns="101600" bIns="101600" rtlCol="0" anchor="ctr"/>
          <a:lstStyle/>
          <a:p>
            <a:pPr marL="0" indent="0" algn="l">
              <a:buNone/>
            </a:pPr>
            <a:r>
              <a:rPr lang="en-US" sz="1050" b="1" dirty="0">
                <a:solidFill>
                  <a:srgbClr val="FFFFFF"/>
                </a:solidFill>
                <a:latin typeface="Arial" pitchFamily="34" charset="0"/>
                <a:ea typeface="Arial" pitchFamily="34" charset="-122"/>
                <a:cs typeface="Arial" pitchFamily="34" charset="-120"/>
              </a:rPr>
              <a:t>Method</a:t>
            </a:r>
            <a:endParaRPr lang="en-US" sz="1050" dirty="0"/>
          </a:p>
        </p:txBody>
      </p:sp>
      <p:sp>
        <p:nvSpPr>
          <p:cNvPr id="7" name="Shape 5"/>
          <p:cNvSpPr/>
          <p:nvPr/>
        </p:nvSpPr>
        <p:spPr>
          <a:xfrm>
            <a:off x="3063240" y="1170432"/>
            <a:ext cx="1371600" cy="365760"/>
          </a:xfrm>
          <a:prstGeom prst="rect">
            <a:avLst/>
          </a:prstGeom>
          <a:solidFill>
            <a:srgbClr val="1B3A6B"/>
          </a:solidFill>
          <a:ln w="12700">
            <a:solidFill>
              <a:srgbClr val="1B3A6B"/>
            </a:solidFill>
            <a:prstDash val="solid"/>
          </a:ln>
        </p:spPr>
      </p:sp>
      <p:sp>
        <p:nvSpPr>
          <p:cNvPr id="8" name="Text 6"/>
          <p:cNvSpPr/>
          <p:nvPr/>
        </p:nvSpPr>
        <p:spPr>
          <a:xfrm>
            <a:off x="3063240" y="1170432"/>
            <a:ext cx="13716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MAE ↓</a:t>
            </a:r>
            <a:endParaRPr lang="en-US" sz="1050" dirty="0"/>
          </a:p>
        </p:txBody>
      </p:sp>
      <p:sp>
        <p:nvSpPr>
          <p:cNvPr id="9" name="Shape 7"/>
          <p:cNvSpPr/>
          <p:nvPr/>
        </p:nvSpPr>
        <p:spPr>
          <a:xfrm>
            <a:off x="4434840" y="1170432"/>
            <a:ext cx="1371600" cy="365760"/>
          </a:xfrm>
          <a:prstGeom prst="rect">
            <a:avLst/>
          </a:prstGeom>
          <a:solidFill>
            <a:srgbClr val="1B3A6B"/>
          </a:solidFill>
          <a:ln w="12700">
            <a:solidFill>
              <a:srgbClr val="1B3A6B"/>
            </a:solidFill>
            <a:prstDash val="solid"/>
          </a:ln>
        </p:spPr>
      </p:sp>
      <p:sp>
        <p:nvSpPr>
          <p:cNvPr id="10" name="Text 8"/>
          <p:cNvSpPr/>
          <p:nvPr/>
        </p:nvSpPr>
        <p:spPr>
          <a:xfrm>
            <a:off x="4434840" y="1170432"/>
            <a:ext cx="13716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MAPE (%) ↓</a:t>
            </a:r>
            <a:endParaRPr lang="en-US" sz="1050" dirty="0"/>
          </a:p>
        </p:txBody>
      </p:sp>
      <p:sp>
        <p:nvSpPr>
          <p:cNvPr id="11" name="Shape 9"/>
          <p:cNvSpPr/>
          <p:nvPr/>
        </p:nvSpPr>
        <p:spPr>
          <a:xfrm>
            <a:off x="5806440" y="1170432"/>
            <a:ext cx="1371600" cy="365760"/>
          </a:xfrm>
          <a:prstGeom prst="rect">
            <a:avLst/>
          </a:prstGeom>
          <a:solidFill>
            <a:srgbClr val="1B3A6B"/>
          </a:solidFill>
          <a:ln w="12700">
            <a:solidFill>
              <a:srgbClr val="1B3A6B"/>
            </a:solidFill>
            <a:prstDash val="solid"/>
          </a:ln>
        </p:spPr>
      </p:sp>
      <p:sp>
        <p:nvSpPr>
          <p:cNvPr id="12" name="Text 10"/>
          <p:cNvSpPr/>
          <p:nvPr/>
        </p:nvSpPr>
        <p:spPr>
          <a:xfrm>
            <a:off x="5806440" y="1170432"/>
            <a:ext cx="13716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R² ↑</a:t>
            </a:r>
            <a:endParaRPr lang="en-US" sz="1050" dirty="0"/>
          </a:p>
        </p:txBody>
      </p:sp>
      <p:sp>
        <p:nvSpPr>
          <p:cNvPr id="13" name="Shape 11"/>
          <p:cNvSpPr/>
          <p:nvPr/>
        </p:nvSpPr>
        <p:spPr>
          <a:xfrm>
            <a:off x="7178040" y="1170432"/>
            <a:ext cx="804672" cy="365760"/>
          </a:xfrm>
          <a:prstGeom prst="rect">
            <a:avLst/>
          </a:prstGeom>
          <a:solidFill>
            <a:srgbClr val="1B3A6B"/>
          </a:solidFill>
          <a:ln w="12700">
            <a:solidFill>
              <a:srgbClr val="1B3A6B"/>
            </a:solidFill>
            <a:prstDash val="solid"/>
          </a:ln>
        </p:spPr>
      </p:sp>
      <p:sp>
        <p:nvSpPr>
          <p:cNvPr id="14" name="Text 12"/>
          <p:cNvSpPr/>
          <p:nvPr/>
        </p:nvSpPr>
        <p:spPr>
          <a:xfrm>
            <a:off x="7178040" y="1170432"/>
            <a:ext cx="804672"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Rank</a:t>
            </a:r>
            <a:endParaRPr lang="en-US" sz="1050" dirty="0"/>
          </a:p>
        </p:txBody>
      </p:sp>
      <p:sp>
        <p:nvSpPr>
          <p:cNvPr id="15" name="Shape 13"/>
          <p:cNvSpPr/>
          <p:nvPr/>
        </p:nvSpPr>
        <p:spPr>
          <a:xfrm>
            <a:off x="411480" y="1536192"/>
            <a:ext cx="2651760" cy="457200"/>
          </a:xfrm>
          <a:prstGeom prst="rect">
            <a:avLst/>
          </a:prstGeom>
          <a:solidFill>
            <a:srgbClr val="D1D5DB"/>
          </a:solidFill>
          <a:ln w="12700">
            <a:solidFill>
              <a:srgbClr val="E2E8F0"/>
            </a:solidFill>
            <a:prstDash val="solid"/>
          </a:ln>
        </p:spPr>
      </p:sp>
      <p:sp>
        <p:nvSpPr>
          <p:cNvPr id="16" name="Text 14"/>
          <p:cNvSpPr/>
          <p:nvPr/>
        </p:nvSpPr>
        <p:spPr>
          <a:xfrm>
            <a:off x="411480" y="1536192"/>
            <a:ext cx="2651760" cy="457200"/>
          </a:xfrm>
          <a:prstGeom prst="rect">
            <a:avLst/>
          </a:prstGeom>
          <a:noFill/>
          <a:ln/>
        </p:spPr>
        <p:txBody>
          <a:bodyPr wrap="square" lIns="101600" tIns="101600" rIns="101600" bIns="101600" rtlCol="0" anchor="ctr"/>
          <a:lstStyle/>
          <a:p>
            <a:pPr marL="0" indent="0" algn="l">
              <a:buNone/>
            </a:pPr>
            <a:r>
              <a:rPr lang="en-US" sz="1000" b="1" dirty="0">
                <a:solidFill>
                  <a:srgbClr val="1B3A6B"/>
                </a:solidFill>
                <a:latin typeface="Arial" pitchFamily="34" charset="0"/>
                <a:ea typeface="Arial" pitchFamily="34" charset="-122"/>
                <a:cs typeface="Arial" pitchFamily="34" charset="-120"/>
              </a:rPr>
              <a:t>Connected Components (Baseline)</a:t>
            </a:r>
            <a:endParaRPr lang="en-US" sz="1000" dirty="0"/>
          </a:p>
        </p:txBody>
      </p:sp>
      <p:sp>
        <p:nvSpPr>
          <p:cNvPr id="17" name="Shape 15"/>
          <p:cNvSpPr/>
          <p:nvPr/>
        </p:nvSpPr>
        <p:spPr>
          <a:xfrm>
            <a:off x="3063240" y="1536192"/>
            <a:ext cx="1371600" cy="457200"/>
          </a:xfrm>
          <a:prstGeom prst="rect">
            <a:avLst/>
          </a:prstGeom>
          <a:solidFill>
            <a:srgbClr val="D1D5DB"/>
          </a:solidFill>
          <a:ln w="12700">
            <a:solidFill>
              <a:srgbClr val="E2E8F0"/>
            </a:solidFill>
            <a:prstDash val="solid"/>
          </a:ln>
        </p:spPr>
      </p:sp>
      <p:sp>
        <p:nvSpPr>
          <p:cNvPr id="18" name="Text 16"/>
          <p:cNvSpPr/>
          <p:nvPr/>
        </p:nvSpPr>
        <p:spPr>
          <a:xfrm>
            <a:off x="3063240" y="1536192"/>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48.32</a:t>
            </a:r>
            <a:endParaRPr lang="en-US" sz="1100" dirty="0"/>
          </a:p>
        </p:txBody>
      </p:sp>
      <p:sp>
        <p:nvSpPr>
          <p:cNvPr id="19" name="Shape 17"/>
          <p:cNvSpPr/>
          <p:nvPr/>
        </p:nvSpPr>
        <p:spPr>
          <a:xfrm>
            <a:off x="4434840" y="1536192"/>
            <a:ext cx="1371600" cy="457200"/>
          </a:xfrm>
          <a:prstGeom prst="rect">
            <a:avLst/>
          </a:prstGeom>
          <a:solidFill>
            <a:srgbClr val="D1D5DB"/>
          </a:solidFill>
          <a:ln w="12700">
            <a:solidFill>
              <a:srgbClr val="E2E8F0"/>
            </a:solidFill>
            <a:prstDash val="solid"/>
          </a:ln>
        </p:spPr>
      </p:sp>
      <p:sp>
        <p:nvSpPr>
          <p:cNvPr id="20" name="Text 18"/>
          <p:cNvSpPr/>
          <p:nvPr/>
        </p:nvSpPr>
        <p:spPr>
          <a:xfrm>
            <a:off x="4434840" y="1536192"/>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32.93</a:t>
            </a:r>
            <a:endParaRPr lang="en-US" sz="1100" dirty="0"/>
          </a:p>
        </p:txBody>
      </p:sp>
      <p:sp>
        <p:nvSpPr>
          <p:cNvPr id="21" name="Shape 19"/>
          <p:cNvSpPr/>
          <p:nvPr/>
        </p:nvSpPr>
        <p:spPr>
          <a:xfrm>
            <a:off x="5806440" y="1536192"/>
            <a:ext cx="1371600" cy="457200"/>
          </a:xfrm>
          <a:prstGeom prst="rect">
            <a:avLst/>
          </a:prstGeom>
          <a:solidFill>
            <a:srgbClr val="D1D5DB"/>
          </a:solidFill>
          <a:ln w="12700">
            <a:solidFill>
              <a:srgbClr val="E2E8F0"/>
            </a:solidFill>
            <a:prstDash val="solid"/>
          </a:ln>
        </p:spPr>
      </p:sp>
      <p:sp>
        <p:nvSpPr>
          <p:cNvPr id="22" name="Text 20"/>
          <p:cNvSpPr/>
          <p:nvPr/>
        </p:nvSpPr>
        <p:spPr>
          <a:xfrm>
            <a:off x="5806440" y="1536192"/>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0.185</a:t>
            </a:r>
            <a:endParaRPr lang="en-US" sz="1100" dirty="0"/>
          </a:p>
        </p:txBody>
      </p:sp>
      <p:sp>
        <p:nvSpPr>
          <p:cNvPr id="23" name="Shape 21"/>
          <p:cNvSpPr/>
          <p:nvPr/>
        </p:nvSpPr>
        <p:spPr>
          <a:xfrm>
            <a:off x="7178040" y="1536192"/>
            <a:ext cx="804672" cy="457200"/>
          </a:xfrm>
          <a:prstGeom prst="rect">
            <a:avLst/>
          </a:prstGeom>
          <a:solidFill>
            <a:srgbClr val="D1D5DB"/>
          </a:solidFill>
          <a:ln w="12700">
            <a:solidFill>
              <a:srgbClr val="E2E8F0"/>
            </a:solidFill>
            <a:prstDash val="solid"/>
          </a:ln>
        </p:spPr>
      </p:sp>
      <p:sp>
        <p:nvSpPr>
          <p:cNvPr id="24" name="Text 22"/>
          <p:cNvSpPr/>
          <p:nvPr/>
        </p:nvSpPr>
        <p:spPr>
          <a:xfrm>
            <a:off x="7178040" y="1536192"/>
            <a:ext cx="804672"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4th</a:t>
            </a:r>
            <a:endParaRPr lang="en-US" sz="1100" dirty="0"/>
          </a:p>
        </p:txBody>
      </p:sp>
      <p:sp>
        <p:nvSpPr>
          <p:cNvPr id="25" name="Shape 23"/>
          <p:cNvSpPr/>
          <p:nvPr/>
        </p:nvSpPr>
        <p:spPr>
          <a:xfrm>
            <a:off x="411480" y="2011680"/>
            <a:ext cx="2651760" cy="457200"/>
          </a:xfrm>
          <a:prstGeom prst="rect">
            <a:avLst/>
          </a:prstGeom>
          <a:solidFill>
            <a:srgbClr val="FFFFFF"/>
          </a:solidFill>
          <a:ln w="12700">
            <a:solidFill>
              <a:srgbClr val="E2E8F0"/>
            </a:solidFill>
            <a:prstDash val="solid"/>
          </a:ln>
        </p:spPr>
      </p:sp>
      <p:sp>
        <p:nvSpPr>
          <p:cNvPr id="26" name="Text 24"/>
          <p:cNvSpPr/>
          <p:nvPr/>
        </p:nvSpPr>
        <p:spPr>
          <a:xfrm>
            <a:off x="411480" y="2011680"/>
            <a:ext cx="2651760" cy="457200"/>
          </a:xfrm>
          <a:prstGeom prst="rect">
            <a:avLst/>
          </a:prstGeom>
          <a:noFill/>
          <a:ln/>
        </p:spPr>
        <p:txBody>
          <a:bodyPr wrap="square" lIns="101600" tIns="101600" rIns="101600" bIns="101600" rtlCol="0" anchor="ctr"/>
          <a:lstStyle/>
          <a:p>
            <a:pPr marL="0" indent="0" algn="l">
              <a:buNone/>
            </a:pPr>
            <a:r>
              <a:rPr lang="en-US" sz="1000" b="1" dirty="0">
                <a:solidFill>
                  <a:srgbClr val="1B3A6B"/>
                </a:solidFill>
                <a:latin typeface="Arial" pitchFamily="34" charset="0"/>
                <a:ea typeface="Arial" pitchFamily="34" charset="-122"/>
                <a:cs typeface="Arial" pitchFamily="34" charset="-120"/>
              </a:rPr>
              <a:t>Marker-Controlled Watershed</a:t>
            </a:r>
            <a:endParaRPr lang="en-US" sz="1000" dirty="0"/>
          </a:p>
        </p:txBody>
      </p:sp>
      <p:sp>
        <p:nvSpPr>
          <p:cNvPr id="27" name="Shape 25"/>
          <p:cNvSpPr/>
          <p:nvPr/>
        </p:nvSpPr>
        <p:spPr>
          <a:xfrm>
            <a:off x="3063240" y="2011680"/>
            <a:ext cx="1371600" cy="457200"/>
          </a:xfrm>
          <a:prstGeom prst="rect">
            <a:avLst/>
          </a:prstGeom>
          <a:solidFill>
            <a:srgbClr val="FFFFFF"/>
          </a:solidFill>
          <a:ln w="12700">
            <a:solidFill>
              <a:srgbClr val="E2E8F0"/>
            </a:solidFill>
            <a:prstDash val="solid"/>
          </a:ln>
        </p:spPr>
      </p:sp>
      <p:sp>
        <p:nvSpPr>
          <p:cNvPr id="28" name="Text 26"/>
          <p:cNvSpPr/>
          <p:nvPr/>
        </p:nvSpPr>
        <p:spPr>
          <a:xfrm>
            <a:off x="3063240" y="2011680"/>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42.18</a:t>
            </a:r>
            <a:endParaRPr lang="en-US" sz="1100" dirty="0"/>
          </a:p>
        </p:txBody>
      </p:sp>
      <p:sp>
        <p:nvSpPr>
          <p:cNvPr id="29" name="Shape 27"/>
          <p:cNvSpPr/>
          <p:nvPr/>
        </p:nvSpPr>
        <p:spPr>
          <a:xfrm>
            <a:off x="4434840" y="2011680"/>
            <a:ext cx="1371600" cy="457200"/>
          </a:xfrm>
          <a:prstGeom prst="rect">
            <a:avLst/>
          </a:prstGeom>
          <a:solidFill>
            <a:srgbClr val="FFFFFF"/>
          </a:solidFill>
          <a:ln w="12700">
            <a:solidFill>
              <a:srgbClr val="E2E8F0"/>
            </a:solidFill>
            <a:prstDash val="solid"/>
          </a:ln>
        </p:spPr>
      </p:sp>
      <p:sp>
        <p:nvSpPr>
          <p:cNvPr id="30" name="Text 28"/>
          <p:cNvSpPr/>
          <p:nvPr/>
        </p:nvSpPr>
        <p:spPr>
          <a:xfrm>
            <a:off x="4434840" y="2011680"/>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35.22</a:t>
            </a:r>
            <a:endParaRPr lang="en-US" sz="1100" dirty="0"/>
          </a:p>
        </p:txBody>
      </p:sp>
      <p:sp>
        <p:nvSpPr>
          <p:cNvPr id="31" name="Shape 29"/>
          <p:cNvSpPr/>
          <p:nvPr/>
        </p:nvSpPr>
        <p:spPr>
          <a:xfrm>
            <a:off x="5806440" y="2011680"/>
            <a:ext cx="1371600" cy="457200"/>
          </a:xfrm>
          <a:prstGeom prst="rect">
            <a:avLst/>
          </a:prstGeom>
          <a:solidFill>
            <a:srgbClr val="FFFFFF"/>
          </a:solidFill>
          <a:ln w="12700">
            <a:solidFill>
              <a:srgbClr val="E2E8F0"/>
            </a:solidFill>
            <a:prstDash val="solid"/>
          </a:ln>
        </p:spPr>
      </p:sp>
      <p:sp>
        <p:nvSpPr>
          <p:cNvPr id="32" name="Text 30"/>
          <p:cNvSpPr/>
          <p:nvPr/>
        </p:nvSpPr>
        <p:spPr>
          <a:xfrm>
            <a:off x="5806440" y="2011680"/>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0.421</a:t>
            </a:r>
            <a:endParaRPr lang="en-US" sz="1100" dirty="0"/>
          </a:p>
        </p:txBody>
      </p:sp>
      <p:sp>
        <p:nvSpPr>
          <p:cNvPr id="33" name="Shape 31"/>
          <p:cNvSpPr/>
          <p:nvPr/>
        </p:nvSpPr>
        <p:spPr>
          <a:xfrm>
            <a:off x="7178040" y="2011680"/>
            <a:ext cx="804672" cy="457200"/>
          </a:xfrm>
          <a:prstGeom prst="rect">
            <a:avLst/>
          </a:prstGeom>
          <a:solidFill>
            <a:srgbClr val="FFFFFF"/>
          </a:solidFill>
          <a:ln w="12700">
            <a:solidFill>
              <a:srgbClr val="E2E8F0"/>
            </a:solidFill>
            <a:prstDash val="solid"/>
          </a:ln>
        </p:spPr>
      </p:sp>
      <p:sp>
        <p:nvSpPr>
          <p:cNvPr id="34" name="Text 32"/>
          <p:cNvSpPr/>
          <p:nvPr/>
        </p:nvSpPr>
        <p:spPr>
          <a:xfrm>
            <a:off x="7178040" y="2011680"/>
            <a:ext cx="804672"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2nd</a:t>
            </a:r>
            <a:endParaRPr lang="en-US" sz="1100" dirty="0"/>
          </a:p>
        </p:txBody>
      </p:sp>
      <p:sp>
        <p:nvSpPr>
          <p:cNvPr id="35" name="Shape 33"/>
          <p:cNvSpPr/>
          <p:nvPr/>
        </p:nvSpPr>
        <p:spPr>
          <a:xfrm>
            <a:off x="411480" y="2487168"/>
            <a:ext cx="2651760" cy="457200"/>
          </a:xfrm>
          <a:prstGeom prst="rect">
            <a:avLst/>
          </a:prstGeom>
          <a:solidFill>
            <a:srgbClr val="FEF9C3"/>
          </a:solidFill>
          <a:ln w="12700">
            <a:solidFill>
              <a:srgbClr val="E2E8F0"/>
            </a:solidFill>
            <a:prstDash val="solid"/>
          </a:ln>
        </p:spPr>
      </p:sp>
      <p:sp>
        <p:nvSpPr>
          <p:cNvPr id="36" name="Text 34"/>
          <p:cNvSpPr/>
          <p:nvPr/>
        </p:nvSpPr>
        <p:spPr>
          <a:xfrm>
            <a:off x="411480" y="2487168"/>
            <a:ext cx="2651760" cy="457200"/>
          </a:xfrm>
          <a:prstGeom prst="rect">
            <a:avLst/>
          </a:prstGeom>
          <a:noFill/>
          <a:ln/>
        </p:spPr>
        <p:txBody>
          <a:bodyPr wrap="square" lIns="101600" tIns="101600" rIns="101600" bIns="101600" rtlCol="0" anchor="ctr"/>
          <a:lstStyle/>
          <a:p>
            <a:pPr marL="0" indent="0" algn="l">
              <a:buNone/>
            </a:pPr>
            <a:r>
              <a:rPr lang="en-US" sz="1000" b="1" dirty="0">
                <a:solidFill>
                  <a:srgbClr val="1B3A6B"/>
                </a:solidFill>
                <a:latin typeface="Arial" pitchFamily="34" charset="0"/>
                <a:ea typeface="Arial" pitchFamily="34" charset="-122"/>
                <a:cs typeface="Arial" pitchFamily="34" charset="-120"/>
              </a:rPr>
              <a:t>Laplacian of Gaussian</a:t>
            </a:r>
            <a:endParaRPr lang="en-US" sz="1000" dirty="0"/>
          </a:p>
        </p:txBody>
      </p:sp>
      <p:sp>
        <p:nvSpPr>
          <p:cNvPr id="37" name="Shape 35"/>
          <p:cNvSpPr/>
          <p:nvPr/>
        </p:nvSpPr>
        <p:spPr>
          <a:xfrm>
            <a:off x="3063240" y="2487168"/>
            <a:ext cx="1371600" cy="457200"/>
          </a:xfrm>
          <a:prstGeom prst="rect">
            <a:avLst/>
          </a:prstGeom>
          <a:solidFill>
            <a:srgbClr val="FEF9C3"/>
          </a:solidFill>
          <a:ln w="12700">
            <a:solidFill>
              <a:srgbClr val="E2E8F0"/>
            </a:solidFill>
            <a:prstDash val="solid"/>
          </a:ln>
        </p:spPr>
      </p:sp>
      <p:sp>
        <p:nvSpPr>
          <p:cNvPr id="38" name="Text 36"/>
          <p:cNvSpPr/>
          <p:nvPr/>
        </p:nvSpPr>
        <p:spPr>
          <a:xfrm>
            <a:off x="3063240" y="2487168"/>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73.09</a:t>
            </a:r>
            <a:endParaRPr lang="en-US" sz="1100" dirty="0"/>
          </a:p>
        </p:txBody>
      </p:sp>
      <p:sp>
        <p:nvSpPr>
          <p:cNvPr id="39" name="Shape 37"/>
          <p:cNvSpPr/>
          <p:nvPr/>
        </p:nvSpPr>
        <p:spPr>
          <a:xfrm>
            <a:off x="4434840" y="2487168"/>
            <a:ext cx="1371600" cy="457200"/>
          </a:xfrm>
          <a:prstGeom prst="rect">
            <a:avLst/>
          </a:prstGeom>
          <a:solidFill>
            <a:srgbClr val="FEF9C3"/>
          </a:solidFill>
          <a:ln w="12700">
            <a:solidFill>
              <a:srgbClr val="E2E8F0"/>
            </a:solidFill>
            <a:prstDash val="solid"/>
          </a:ln>
        </p:spPr>
      </p:sp>
      <p:sp>
        <p:nvSpPr>
          <p:cNvPr id="40" name="Text 38"/>
          <p:cNvSpPr/>
          <p:nvPr/>
        </p:nvSpPr>
        <p:spPr>
          <a:xfrm>
            <a:off x="4434840" y="2487168"/>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142.91</a:t>
            </a:r>
            <a:endParaRPr lang="en-US" sz="1100" dirty="0"/>
          </a:p>
        </p:txBody>
      </p:sp>
      <p:sp>
        <p:nvSpPr>
          <p:cNvPr id="41" name="Shape 39"/>
          <p:cNvSpPr/>
          <p:nvPr/>
        </p:nvSpPr>
        <p:spPr>
          <a:xfrm>
            <a:off x="5806440" y="2487168"/>
            <a:ext cx="1371600" cy="457200"/>
          </a:xfrm>
          <a:prstGeom prst="rect">
            <a:avLst/>
          </a:prstGeom>
          <a:solidFill>
            <a:srgbClr val="FEF9C3"/>
          </a:solidFill>
          <a:ln w="12700">
            <a:solidFill>
              <a:srgbClr val="E2E8F0"/>
            </a:solidFill>
            <a:prstDash val="solid"/>
          </a:ln>
        </p:spPr>
      </p:sp>
      <p:sp>
        <p:nvSpPr>
          <p:cNvPr id="42" name="Text 40"/>
          <p:cNvSpPr/>
          <p:nvPr/>
        </p:nvSpPr>
        <p:spPr>
          <a:xfrm>
            <a:off x="5806440" y="2487168"/>
            <a:ext cx="1371600"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-0.187</a:t>
            </a:r>
            <a:endParaRPr lang="en-US" sz="1100" dirty="0"/>
          </a:p>
        </p:txBody>
      </p:sp>
      <p:sp>
        <p:nvSpPr>
          <p:cNvPr id="43" name="Shape 41"/>
          <p:cNvSpPr/>
          <p:nvPr/>
        </p:nvSpPr>
        <p:spPr>
          <a:xfrm>
            <a:off x="7178040" y="2487168"/>
            <a:ext cx="804672" cy="457200"/>
          </a:xfrm>
          <a:prstGeom prst="rect">
            <a:avLst/>
          </a:prstGeom>
          <a:solidFill>
            <a:srgbClr val="FEF9C3"/>
          </a:solidFill>
          <a:ln w="12700">
            <a:solidFill>
              <a:srgbClr val="E2E8F0"/>
            </a:solidFill>
            <a:prstDash val="solid"/>
          </a:ln>
        </p:spPr>
      </p:sp>
      <p:sp>
        <p:nvSpPr>
          <p:cNvPr id="44" name="Text 42"/>
          <p:cNvSpPr/>
          <p:nvPr/>
        </p:nvSpPr>
        <p:spPr>
          <a:xfrm>
            <a:off x="7178040" y="2487168"/>
            <a:ext cx="804672" cy="457200"/>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3rd</a:t>
            </a:r>
            <a:endParaRPr lang="en-US" sz="1100" dirty="0"/>
          </a:p>
        </p:txBody>
      </p:sp>
      <p:sp>
        <p:nvSpPr>
          <p:cNvPr id="45" name="Shape 43"/>
          <p:cNvSpPr/>
          <p:nvPr/>
        </p:nvSpPr>
        <p:spPr>
          <a:xfrm>
            <a:off x="411480" y="2962656"/>
            <a:ext cx="2651760" cy="457200"/>
          </a:xfrm>
          <a:prstGeom prst="rect">
            <a:avLst/>
          </a:prstGeom>
          <a:solidFill>
            <a:srgbClr val="D1FAE5"/>
          </a:solidFill>
          <a:ln w="12700">
            <a:solidFill>
              <a:srgbClr val="E2E8F0"/>
            </a:solidFill>
            <a:prstDash val="solid"/>
          </a:ln>
        </p:spPr>
      </p:sp>
      <p:sp>
        <p:nvSpPr>
          <p:cNvPr id="46" name="Text 44"/>
          <p:cNvSpPr/>
          <p:nvPr/>
        </p:nvSpPr>
        <p:spPr>
          <a:xfrm>
            <a:off x="411480" y="2962656"/>
            <a:ext cx="2651760" cy="457200"/>
          </a:xfrm>
          <a:prstGeom prst="rect">
            <a:avLst/>
          </a:prstGeom>
          <a:noFill/>
          <a:ln/>
        </p:spPr>
        <p:txBody>
          <a:bodyPr wrap="square" lIns="101600" tIns="101600" rIns="101600" bIns="101600" rtlCol="0" anchor="ctr"/>
          <a:lstStyle/>
          <a:p>
            <a:pPr marL="0" indent="0" algn="l">
              <a:buNone/>
            </a:pPr>
            <a:r>
              <a:rPr lang="en-US" sz="1000" b="1" dirty="0">
                <a:solidFill>
                  <a:srgbClr val="1B3A6B"/>
                </a:solidFill>
                <a:latin typeface="Arial" pitchFamily="34" charset="0"/>
                <a:ea typeface="Arial" pitchFamily="34" charset="-122"/>
                <a:cs typeface="Arial" pitchFamily="34" charset="-120"/>
              </a:rPr>
              <a:t>Consensus Counter ★</a:t>
            </a:r>
            <a:endParaRPr lang="en-US" sz="1000" dirty="0"/>
          </a:p>
        </p:txBody>
      </p:sp>
      <p:sp>
        <p:nvSpPr>
          <p:cNvPr id="47" name="Shape 45"/>
          <p:cNvSpPr/>
          <p:nvPr/>
        </p:nvSpPr>
        <p:spPr>
          <a:xfrm>
            <a:off x="3063240" y="2962656"/>
            <a:ext cx="1371600" cy="457200"/>
          </a:xfrm>
          <a:prstGeom prst="rect">
            <a:avLst/>
          </a:prstGeom>
          <a:solidFill>
            <a:srgbClr val="D1FAE5"/>
          </a:solidFill>
          <a:ln w="12700">
            <a:solidFill>
              <a:srgbClr val="E2E8F0"/>
            </a:solidFill>
            <a:prstDash val="solid"/>
          </a:ln>
        </p:spPr>
      </p:sp>
      <p:sp>
        <p:nvSpPr>
          <p:cNvPr id="48" name="Text 46"/>
          <p:cNvSpPr/>
          <p:nvPr/>
        </p:nvSpPr>
        <p:spPr>
          <a:xfrm>
            <a:off x="3063240" y="2962656"/>
            <a:ext cx="1371600" cy="457200"/>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42.12</a:t>
            </a:r>
            <a:endParaRPr lang="en-US" sz="1100" dirty="0"/>
          </a:p>
        </p:txBody>
      </p:sp>
      <p:sp>
        <p:nvSpPr>
          <p:cNvPr id="49" name="Shape 47"/>
          <p:cNvSpPr/>
          <p:nvPr/>
        </p:nvSpPr>
        <p:spPr>
          <a:xfrm>
            <a:off x="4434840" y="2962656"/>
            <a:ext cx="1371600" cy="457200"/>
          </a:xfrm>
          <a:prstGeom prst="rect">
            <a:avLst/>
          </a:prstGeom>
          <a:solidFill>
            <a:srgbClr val="D1FAE5"/>
          </a:solidFill>
          <a:ln w="12700">
            <a:solidFill>
              <a:srgbClr val="E2E8F0"/>
            </a:solidFill>
            <a:prstDash val="solid"/>
          </a:ln>
        </p:spPr>
      </p:sp>
      <p:sp>
        <p:nvSpPr>
          <p:cNvPr id="50" name="Text 48"/>
          <p:cNvSpPr/>
          <p:nvPr/>
        </p:nvSpPr>
        <p:spPr>
          <a:xfrm>
            <a:off x="4434840" y="2962656"/>
            <a:ext cx="1371600" cy="457200"/>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35.19</a:t>
            </a:r>
            <a:endParaRPr lang="en-US" sz="1100" dirty="0"/>
          </a:p>
        </p:txBody>
      </p:sp>
      <p:sp>
        <p:nvSpPr>
          <p:cNvPr id="51" name="Shape 49"/>
          <p:cNvSpPr/>
          <p:nvPr/>
        </p:nvSpPr>
        <p:spPr>
          <a:xfrm>
            <a:off x="5806440" y="2962656"/>
            <a:ext cx="1371600" cy="457200"/>
          </a:xfrm>
          <a:prstGeom prst="rect">
            <a:avLst/>
          </a:prstGeom>
          <a:solidFill>
            <a:srgbClr val="D1FAE5"/>
          </a:solidFill>
          <a:ln w="12700">
            <a:solidFill>
              <a:srgbClr val="E2E8F0"/>
            </a:solidFill>
            <a:prstDash val="solid"/>
          </a:ln>
        </p:spPr>
      </p:sp>
      <p:sp>
        <p:nvSpPr>
          <p:cNvPr id="52" name="Text 50"/>
          <p:cNvSpPr/>
          <p:nvPr/>
        </p:nvSpPr>
        <p:spPr>
          <a:xfrm>
            <a:off x="5806440" y="2962656"/>
            <a:ext cx="1371600" cy="457200"/>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0.422</a:t>
            </a:r>
            <a:endParaRPr lang="en-US" sz="1100" dirty="0"/>
          </a:p>
        </p:txBody>
      </p:sp>
      <p:sp>
        <p:nvSpPr>
          <p:cNvPr id="53" name="Shape 51"/>
          <p:cNvSpPr/>
          <p:nvPr/>
        </p:nvSpPr>
        <p:spPr>
          <a:xfrm>
            <a:off x="7178040" y="2962656"/>
            <a:ext cx="804672" cy="457200"/>
          </a:xfrm>
          <a:prstGeom prst="rect">
            <a:avLst/>
          </a:prstGeom>
          <a:solidFill>
            <a:srgbClr val="D1FAE5"/>
          </a:solidFill>
          <a:ln w="12700">
            <a:solidFill>
              <a:srgbClr val="E2E8F0"/>
            </a:solidFill>
            <a:prstDash val="solid"/>
          </a:ln>
        </p:spPr>
      </p:sp>
      <p:sp>
        <p:nvSpPr>
          <p:cNvPr id="54" name="Text 52"/>
          <p:cNvSpPr/>
          <p:nvPr/>
        </p:nvSpPr>
        <p:spPr>
          <a:xfrm>
            <a:off x="7178040" y="2962656"/>
            <a:ext cx="804672" cy="457200"/>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1st</a:t>
            </a:r>
            <a:endParaRPr lang="en-US" sz="1100" dirty="0"/>
          </a:p>
        </p:txBody>
      </p:sp>
      <p:sp>
        <p:nvSpPr>
          <p:cNvPr id="55" name="Text 53"/>
          <p:cNvSpPr/>
          <p:nvPr/>
        </p:nvSpPr>
        <p:spPr>
          <a:xfrm>
            <a:off x="411480" y="3246120"/>
            <a:ext cx="8321040" cy="292608"/>
          </a:xfrm>
          <a:prstGeom prst="rect">
            <a:avLst/>
          </a:prstGeom>
          <a:noFill/>
          <a:ln/>
        </p:spPr>
        <p:txBody>
          <a:bodyPr wrap="square" rtlCol="0" anchor="ctr"/>
          <a:lstStyle/>
          <a:p>
            <a:pPr marL="0" indent="0">
              <a:buNone/>
            </a:pPr>
            <a:r>
              <a:rPr lang="en-US" sz="1200" b="1" dirty="0">
                <a:solidFill>
                  <a:srgbClr val="1B3A6B"/>
                </a:solidFill>
                <a:latin typeface="Arial" pitchFamily="34" charset="0"/>
                <a:ea typeface="Arial" pitchFamily="34" charset="-122"/>
                <a:cs typeface="Arial" pitchFamily="34" charset="-120"/>
              </a:rPr>
              <a:t>Key Insights</a:t>
            </a:r>
            <a:endParaRPr lang="en-US" sz="1200" dirty="0"/>
          </a:p>
        </p:txBody>
      </p:sp>
      <p:sp>
        <p:nvSpPr>
          <p:cNvPr id="56" name="Text 54"/>
          <p:cNvSpPr/>
          <p:nvPr/>
        </p:nvSpPr>
        <p:spPr>
          <a:xfrm>
            <a:off x="502920" y="3566160"/>
            <a:ext cx="8229600" cy="329184"/>
          </a:xfrm>
          <a:prstGeom prst="rect">
            <a:avLst/>
          </a:prstGeom>
          <a:noFill/>
          <a:ln/>
        </p:spPr>
        <p:txBody>
          <a:bodyPr wrap="square" rtlCol="0" anchor="ctr"/>
          <a:lstStyle/>
          <a:p>
            <a:pPr marL="0" indent="0">
              <a:buNone/>
            </a:pPr>
            <a:r>
              <a:rPr lang="en-US" sz="1050" dirty="0">
                <a:solidFill>
                  <a:srgbClr val="64748B"/>
                </a:solidFill>
                <a:latin typeface="Arial" pitchFamily="34" charset="0"/>
                <a:ea typeface="Arial" pitchFamily="34" charset="-122"/>
                <a:cs typeface="Arial" pitchFamily="34" charset="-120"/>
              </a:rPr>
              <a:t>▸  Watershed improves R² by 2.3× over Connected Components (0.421 vs 0.185)</a:t>
            </a:r>
            <a:endParaRPr lang="en-US" sz="1050" dirty="0"/>
          </a:p>
        </p:txBody>
      </p:sp>
      <p:sp>
        <p:nvSpPr>
          <p:cNvPr id="57" name="Text 55"/>
          <p:cNvSpPr/>
          <p:nvPr/>
        </p:nvSpPr>
        <p:spPr>
          <a:xfrm>
            <a:off x="502920" y="3913632"/>
            <a:ext cx="8229600" cy="329184"/>
          </a:xfrm>
          <a:prstGeom prst="rect">
            <a:avLst/>
          </a:prstGeom>
          <a:noFill/>
          <a:ln/>
        </p:spPr>
        <p:txBody>
          <a:bodyPr wrap="square" rtlCol="0" anchor="ctr"/>
          <a:lstStyle/>
          <a:p>
            <a:pPr marL="0" indent="0">
              <a:buNone/>
            </a:pPr>
            <a:r>
              <a:rPr lang="en-US" sz="1050" dirty="0">
                <a:solidFill>
                  <a:srgbClr val="64748B"/>
                </a:solidFill>
                <a:latin typeface="Arial" pitchFamily="34" charset="0"/>
                <a:ea typeface="Arial" pitchFamily="34" charset="-122"/>
                <a:cs typeface="Arial" pitchFamily="34" charset="-120"/>
              </a:rPr>
              <a:t>▸  LoG over-detects at high density — MAPE 143% excludes it from primary ranking</a:t>
            </a:r>
            <a:endParaRPr lang="en-US" sz="1050" dirty="0"/>
          </a:p>
        </p:txBody>
      </p:sp>
      <p:sp>
        <p:nvSpPr>
          <p:cNvPr id="58" name="Text 56"/>
          <p:cNvSpPr/>
          <p:nvPr/>
        </p:nvSpPr>
        <p:spPr>
          <a:xfrm>
            <a:off x="502920" y="4261104"/>
            <a:ext cx="8229600" cy="329184"/>
          </a:xfrm>
          <a:prstGeom prst="rect">
            <a:avLst/>
          </a:prstGeom>
          <a:noFill/>
          <a:ln/>
        </p:spPr>
        <p:txBody>
          <a:bodyPr wrap="square" rtlCol="0" anchor="ctr"/>
          <a:lstStyle/>
          <a:p>
            <a:pPr marL="0" indent="0">
              <a:buNone/>
            </a:pPr>
            <a:r>
              <a:rPr lang="en-US" sz="1050" dirty="0">
                <a:solidFill>
                  <a:srgbClr val="64748B"/>
                </a:solidFill>
                <a:latin typeface="Arial" pitchFamily="34" charset="0"/>
                <a:ea typeface="Arial" pitchFamily="34" charset="-122"/>
                <a:cs typeface="Arial" pitchFamily="34" charset="-120"/>
              </a:rPr>
              <a:t>▸  Consensus edges Watershed for best overall MAE (42.12) and R² (0.422)</a:t>
            </a:r>
            <a:endParaRPr lang="en-US" sz="1050" dirty="0"/>
          </a:p>
        </p:txBody>
      </p:sp>
      <p:sp>
        <p:nvSpPr>
          <p:cNvPr id="59" name="Text 57"/>
          <p:cNvSpPr/>
          <p:nvPr/>
        </p:nvSpPr>
        <p:spPr>
          <a:xfrm>
            <a:off x="411480" y="4681728"/>
            <a:ext cx="8321040" cy="274320"/>
          </a:xfrm>
          <a:prstGeom prst="rect">
            <a:avLst/>
          </a:prstGeom>
          <a:noFill/>
          <a:ln/>
        </p:spPr>
        <p:txBody>
          <a:bodyPr wrap="square" rtlCol="0" anchor="ctr"/>
          <a:lstStyle/>
          <a:p>
            <a:pPr marL="0" indent="0">
              <a:buNone/>
            </a:pPr>
            <a:r>
              <a:rPr lang="en-US" sz="850" dirty="0">
                <a:solidFill>
                  <a:srgbClr val="94A3B8"/>
                </a:solidFill>
                <a:latin typeface="Arial" pitchFamily="34" charset="0"/>
                <a:ea typeface="Arial" pitchFamily="34" charset="-122"/>
                <a:cs typeface="Arial" pitchFamily="34" charset="-120"/>
              </a:rPr>
              <a:t>* Metrics calculated on countable plates only (manual count 25–250 CFU); TFTC/TNTC excluded.</a:t>
            </a:r>
            <a:endParaRPr lang="en-US" sz="8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ML CLASSIFIER</a:t>
            </a:r>
            <a:endParaRPr lang="en-US" sz="900" dirty="0"/>
          </a:p>
        </p:txBody>
      </p:sp>
      <p:sp>
        <p:nvSpPr>
          <p:cNvPr id="4" name="Text 2"/>
          <p:cNvSpPr/>
          <p:nvPr/>
        </p:nvSpPr>
        <p:spPr>
          <a:xfrm>
            <a:off x="411480" y="566928"/>
            <a:ext cx="8321040" cy="45720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Random Forest Plate Assessment</a:t>
            </a:r>
            <a:endParaRPr lang="en-US" sz="2600" dirty="0"/>
          </a:p>
        </p:txBody>
      </p:sp>
      <p:sp>
        <p:nvSpPr>
          <p:cNvPr id="5" name="Shape 3"/>
          <p:cNvSpPr/>
          <p:nvPr/>
        </p:nvSpPr>
        <p:spPr>
          <a:xfrm>
            <a:off x="411480" y="1143000"/>
            <a:ext cx="1920240" cy="1005840"/>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6" name="Text 4"/>
          <p:cNvSpPr/>
          <p:nvPr/>
        </p:nvSpPr>
        <p:spPr>
          <a:xfrm>
            <a:off x="411480" y="1216152"/>
            <a:ext cx="1920240" cy="502920"/>
          </a:xfrm>
          <a:prstGeom prst="rect">
            <a:avLst/>
          </a:prstGeom>
          <a:noFill/>
          <a:ln/>
        </p:spPr>
        <p:txBody>
          <a:bodyPr wrap="square" lIns="0" tIns="0" rIns="0" bIns="0" rtlCol="0" anchor="ctr"/>
          <a:lstStyle/>
          <a:p>
            <a:pPr marL="0" indent="0" algn="ctr">
              <a:buNone/>
            </a:pPr>
            <a:r>
              <a:rPr lang="en-US" sz="2800" b="1" dirty="0">
                <a:solidFill>
                  <a:srgbClr val="1B3A6B"/>
                </a:solidFill>
                <a:latin typeface="Arial" pitchFamily="34" charset="0"/>
                <a:ea typeface="Arial" pitchFamily="34" charset="-122"/>
                <a:cs typeface="Arial" pitchFamily="34" charset="-120"/>
              </a:rPr>
              <a:t>80.8%</a:t>
            </a:r>
            <a:endParaRPr lang="en-US" sz="2800" dirty="0"/>
          </a:p>
        </p:txBody>
      </p:sp>
      <p:sp>
        <p:nvSpPr>
          <p:cNvPr id="7" name="Text 5"/>
          <p:cNvSpPr/>
          <p:nvPr/>
        </p:nvSpPr>
        <p:spPr>
          <a:xfrm>
            <a:off x="411480" y="1709928"/>
            <a:ext cx="192024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Overall Accuracy</a:t>
            </a:r>
            <a:endParaRPr lang="en-US" sz="1000" dirty="0"/>
          </a:p>
        </p:txBody>
      </p:sp>
      <p:sp>
        <p:nvSpPr>
          <p:cNvPr id="8" name="Shape 6"/>
          <p:cNvSpPr/>
          <p:nvPr/>
        </p:nvSpPr>
        <p:spPr>
          <a:xfrm>
            <a:off x="2450592" y="1143000"/>
            <a:ext cx="1920240" cy="1005840"/>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9" name="Text 7"/>
          <p:cNvSpPr/>
          <p:nvPr/>
        </p:nvSpPr>
        <p:spPr>
          <a:xfrm>
            <a:off x="2450592" y="1216152"/>
            <a:ext cx="1920240" cy="502920"/>
          </a:xfrm>
          <a:prstGeom prst="rect">
            <a:avLst/>
          </a:prstGeom>
          <a:noFill/>
          <a:ln/>
        </p:spPr>
        <p:txBody>
          <a:bodyPr wrap="square" lIns="0" tIns="0" rIns="0" bIns="0" rtlCol="0" anchor="ctr"/>
          <a:lstStyle/>
          <a:p>
            <a:pPr marL="0" indent="0" algn="ctr">
              <a:buNone/>
            </a:pPr>
            <a:r>
              <a:rPr lang="en-US" sz="2800" b="1" dirty="0">
                <a:solidFill>
                  <a:srgbClr val="028090"/>
                </a:solidFill>
                <a:latin typeface="Arial" pitchFamily="34" charset="0"/>
                <a:ea typeface="Arial" pitchFamily="34" charset="-122"/>
                <a:cs typeface="Arial" pitchFamily="34" charset="-120"/>
              </a:rPr>
              <a:t>0.667</a:t>
            </a:r>
            <a:endParaRPr lang="en-US" sz="2800" dirty="0"/>
          </a:p>
        </p:txBody>
      </p:sp>
      <p:sp>
        <p:nvSpPr>
          <p:cNvPr id="10" name="Text 8"/>
          <p:cNvSpPr/>
          <p:nvPr/>
        </p:nvSpPr>
        <p:spPr>
          <a:xfrm>
            <a:off x="2450592" y="1709928"/>
            <a:ext cx="192024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Precision (Countable)</a:t>
            </a:r>
            <a:endParaRPr lang="en-US" sz="1000" dirty="0"/>
          </a:p>
        </p:txBody>
      </p:sp>
      <p:sp>
        <p:nvSpPr>
          <p:cNvPr id="11" name="Shape 9"/>
          <p:cNvSpPr/>
          <p:nvPr/>
        </p:nvSpPr>
        <p:spPr>
          <a:xfrm>
            <a:off x="4489704" y="1143000"/>
            <a:ext cx="1920240" cy="1005840"/>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12" name="Text 10"/>
          <p:cNvSpPr/>
          <p:nvPr/>
        </p:nvSpPr>
        <p:spPr>
          <a:xfrm>
            <a:off x="4489704" y="1216152"/>
            <a:ext cx="1920240" cy="502920"/>
          </a:xfrm>
          <a:prstGeom prst="rect">
            <a:avLst/>
          </a:prstGeom>
          <a:noFill/>
          <a:ln/>
        </p:spPr>
        <p:txBody>
          <a:bodyPr wrap="square" lIns="0" tIns="0" rIns="0" bIns="0" rtlCol="0" anchor="ctr"/>
          <a:lstStyle/>
          <a:p>
            <a:pPr marL="0" indent="0" algn="ctr">
              <a:buNone/>
            </a:pPr>
            <a:r>
              <a:rPr lang="en-US" sz="2800" b="1" dirty="0">
                <a:solidFill>
                  <a:srgbClr val="02C39A"/>
                </a:solidFill>
                <a:latin typeface="Arial" pitchFamily="34" charset="0"/>
                <a:ea typeface="Arial" pitchFamily="34" charset="-122"/>
                <a:cs typeface="Arial" pitchFamily="34" charset="-120"/>
              </a:rPr>
              <a:t>0.889</a:t>
            </a:r>
            <a:endParaRPr lang="en-US" sz="2800" dirty="0"/>
          </a:p>
        </p:txBody>
      </p:sp>
      <p:sp>
        <p:nvSpPr>
          <p:cNvPr id="13" name="Text 11"/>
          <p:cNvSpPr/>
          <p:nvPr/>
        </p:nvSpPr>
        <p:spPr>
          <a:xfrm>
            <a:off x="4489704" y="1709928"/>
            <a:ext cx="192024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Recall (Countable)</a:t>
            </a:r>
            <a:endParaRPr lang="en-US" sz="1000" dirty="0"/>
          </a:p>
        </p:txBody>
      </p:sp>
      <p:sp>
        <p:nvSpPr>
          <p:cNvPr id="14" name="Shape 12"/>
          <p:cNvSpPr/>
          <p:nvPr/>
        </p:nvSpPr>
        <p:spPr>
          <a:xfrm>
            <a:off x="6528816" y="1143000"/>
            <a:ext cx="1920240" cy="1005840"/>
          </a:xfrm>
          <a:prstGeom prst="roundRect">
            <a:avLst>
              <a:gd name="adj" fmla="val 9091"/>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15" name="Text 13"/>
          <p:cNvSpPr/>
          <p:nvPr/>
        </p:nvSpPr>
        <p:spPr>
          <a:xfrm>
            <a:off x="6528816" y="1216152"/>
            <a:ext cx="1920240" cy="502920"/>
          </a:xfrm>
          <a:prstGeom prst="rect">
            <a:avLst/>
          </a:prstGeom>
          <a:noFill/>
          <a:ln/>
        </p:spPr>
        <p:txBody>
          <a:bodyPr wrap="square" lIns="0" tIns="0" rIns="0" bIns="0" rtlCol="0" anchor="ctr"/>
          <a:lstStyle/>
          <a:p>
            <a:pPr marL="0" indent="0" algn="ctr">
              <a:buNone/>
            </a:pPr>
            <a:r>
              <a:rPr lang="en-US" sz="2800" b="1" dirty="0">
                <a:solidFill>
                  <a:srgbClr val="7C3AED"/>
                </a:solidFill>
                <a:latin typeface="Arial" pitchFamily="34" charset="0"/>
                <a:ea typeface="Arial" pitchFamily="34" charset="-122"/>
                <a:cs typeface="Arial" pitchFamily="34" charset="-120"/>
              </a:rPr>
              <a:t>0.762</a:t>
            </a:r>
            <a:endParaRPr lang="en-US" sz="2800" dirty="0"/>
          </a:p>
        </p:txBody>
      </p:sp>
      <p:sp>
        <p:nvSpPr>
          <p:cNvPr id="16" name="Text 14"/>
          <p:cNvSpPr/>
          <p:nvPr/>
        </p:nvSpPr>
        <p:spPr>
          <a:xfrm>
            <a:off x="6528816" y="1709928"/>
            <a:ext cx="1920240" cy="347472"/>
          </a:xfrm>
          <a:prstGeom prst="rect">
            <a:avLst/>
          </a:prstGeom>
          <a:noFill/>
          <a:ln/>
        </p:spPr>
        <p:txBody>
          <a:bodyPr wrap="square" lIns="0" tIns="0" rIns="0" bIns="0"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F1 Score (Countable)</a:t>
            </a:r>
            <a:endParaRPr lang="en-US" sz="1000" dirty="0"/>
          </a:p>
        </p:txBody>
      </p:sp>
      <p:sp>
        <p:nvSpPr>
          <p:cNvPr id="17" name="Shape 15"/>
          <p:cNvSpPr/>
          <p:nvPr/>
        </p:nvSpPr>
        <p:spPr>
          <a:xfrm>
            <a:off x="411480" y="2377440"/>
            <a:ext cx="2926080" cy="420624"/>
          </a:xfrm>
          <a:prstGeom prst="rect">
            <a:avLst/>
          </a:prstGeom>
          <a:solidFill>
            <a:srgbClr val="1B3A6B"/>
          </a:solidFill>
          <a:ln w="12700">
            <a:solidFill>
              <a:srgbClr val="E2E8F0"/>
            </a:solidFill>
            <a:prstDash val="solid"/>
          </a:ln>
        </p:spPr>
      </p:sp>
      <p:sp>
        <p:nvSpPr>
          <p:cNvPr id="18" name="Text 16"/>
          <p:cNvSpPr/>
          <p:nvPr/>
        </p:nvSpPr>
        <p:spPr>
          <a:xfrm>
            <a:off x="411480" y="2377440"/>
            <a:ext cx="2926080" cy="420624"/>
          </a:xfrm>
          <a:prstGeom prst="rect">
            <a:avLst/>
          </a:prstGeom>
          <a:noFill/>
          <a:ln/>
        </p:spPr>
        <p:txBody>
          <a:bodyPr wrap="square" lIns="101600" tIns="101600" rIns="101600" bIns="10160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Class</a:t>
            </a:r>
            <a:endParaRPr lang="en-US" sz="1000" dirty="0"/>
          </a:p>
        </p:txBody>
      </p:sp>
      <p:sp>
        <p:nvSpPr>
          <p:cNvPr id="19" name="Shape 17"/>
          <p:cNvSpPr/>
          <p:nvPr/>
        </p:nvSpPr>
        <p:spPr>
          <a:xfrm>
            <a:off x="3337560" y="2377440"/>
            <a:ext cx="1417320" cy="420624"/>
          </a:xfrm>
          <a:prstGeom prst="rect">
            <a:avLst/>
          </a:prstGeom>
          <a:solidFill>
            <a:srgbClr val="1B3A6B"/>
          </a:solidFill>
          <a:ln w="12700">
            <a:solidFill>
              <a:srgbClr val="E2E8F0"/>
            </a:solidFill>
            <a:prstDash val="solid"/>
          </a:ln>
        </p:spPr>
      </p:sp>
      <p:sp>
        <p:nvSpPr>
          <p:cNvPr id="20" name="Text 18"/>
          <p:cNvSpPr/>
          <p:nvPr/>
        </p:nvSpPr>
        <p:spPr>
          <a:xfrm>
            <a:off x="3337560" y="2377440"/>
            <a:ext cx="141732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Precision</a:t>
            </a:r>
            <a:endParaRPr lang="en-US" sz="1100" dirty="0"/>
          </a:p>
        </p:txBody>
      </p:sp>
      <p:sp>
        <p:nvSpPr>
          <p:cNvPr id="21" name="Shape 19"/>
          <p:cNvSpPr/>
          <p:nvPr/>
        </p:nvSpPr>
        <p:spPr>
          <a:xfrm>
            <a:off x="4754880" y="2377440"/>
            <a:ext cx="1417320" cy="420624"/>
          </a:xfrm>
          <a:prstGeom prst="rect">
            <a:avLst/>
          </a:prstGeom>
          <a:solidFill>
            <a:srgbClr val="1B3A6B"/>
          </a:solidFill>
          <a:ln w="12700">
            <a:solidFill>
              <a:srgbClr val="E2E8F0"/>
            </a:solidFill>
            <a:prstDash val="solid"/>
          </a:ln>
        </p:spPr>
      </p:sp>
      <p:sp>
        <p:nvSpPr>
          <p:cNvPr id="22" name="Text 20"/>
          <p:cNvSpPr/>
          <p:nvPr/>
        </p:nvSpPr>
        <p:spPr>
          <a:xfrm>
            <a:off x="4754880" y="2377440"/>
            <a:ext cx="141732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Recall</a:t>
            </a:r>
            <a:endParaRPr lang="en-US" sz="1100" dirty="0"/>
          </a:p>
        </p:txBody>
      </p:sp>
      <p:sp>
        <p:nvSpPr>
          <p:cNvPr id="23" name="Shape 21"/>
          <p:cNvSpPr/>
          <p:nvPr/>
        </p:nvSpPr>
        <p:spPr>
          <a:xfrm>
            <a:off x="6172200" y="2377440"/>
            <a:ext cx="1417320" cy="420624"/>
          </a:xfrm>
          <a:prstGeom prst="rect">
            <a:avLst/>
          </a:prstGeom>
          <a:solidFill>
            <a:srgbClr val="1B3A6B"/>
          </a:solidFill>
          <a:ln w="12700">
            <a:solidFill>
              <a:srgbClr val="E2E8F0"/>
            </a:solidFill>
            <a:prstDash val="solid"/>
          </a:ln>
        </p:spPr>
      </p:sp>
      <p:sp>
        <p:nvSpPr>
          <p:cNvPr id="24" name="Text 22"/>
          <p:cNvSpPr/>
          <p:nvPr/>
        </p:nvSpPr>
        <p:spPr>
          <a:xfrm>
            <a:off x="6172200" y="2377440"/>
            <a:ext cx="141732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F1</a:t>
            </a:r>
            <a:endParaRPr lang="en-US" sz="1100" dirty="0"/>
          </a:p>
        </p:txBody>
      </p:sp>
      <p:sp>
        <p:nvSpPr>
          <p:cNvPr id="25" name="Shape 23"/>
          <p:cNvSpPr/>
          <p:nvPr/>
        </p:nvSpPr>
        <p:spPr>
          <a:xfrm>
            <a:off x="7589520" y="2377440"/>
            <a:ext cx="1417320" cy="420624"/>
          </a:xfrm>
          <a:prstGeom prst="rect">
            <a:avLst/>
          </a:prstGeom>
          <a:solidFill>
            <a:srgbClr val="1B3A6B"/>
          </a:solidFill>
          <a:ln w="12700">
            <a:solidFill>
              <a:srgbClr val="E2E8F0"/>
            </a:solidFill>
            <a:prstDash val="solid"/>
          </a:ln>
        </p:spPr>
      </p:sp>
      <p:sp>
        <p:nvSpPr>
          <p:cNvPr id="26" name="Text 24"/>
          <p:cNvSpPr/>
          <p:nvPr/>
        </p:nvSpPr>
        <p:spPr>
          <a:xfrm>
            <a:off x="7589520" y="2377440"/>
            <a:ext cx="141732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Support</a:t>
            </a:r>
            <a:endParaRPr lang="en-US" sz="1100" dirty="0"/>
          </a:p>
        </p:txBody>
      </p:sp>
      <p:sp>
        <p:nvSpPr>
          <p:cNvPr id="27" name="Shape 25"/>
          <p:cNvSpPr/>
          <p:nvPr/>
        </p:nvSpPr>
        <p:spPr>
          <a:xfrm>
            <a:off x="411480" y="2816352"/>
            <a:ext cx="2926080" cy="420624"/>
          </a:xfrm>
          <a:prstGeom prst="rect">
            <a:avLst/>
          </a:prstGeom>
          <a:solidFill>
            <a:srgbClr val="FFFFFF"/>
          </a:solidFill>
          <a:ln w="12700">
            <a:solidFill>
              <a:srgbClr val="E2E8F0"/>
            </a:solidFill>
            <a:prstDash val="solid"/>
          </a:ln>
        </p:spPr>
      </p:sp>
      <p:sp>
        <p:nvSpPr>
          <p:cNvPr id="28" name="Text 26"/>
          <p:cNvSpPr/>
          <p:nvPr/>
        </p:nvSpPr>
        <p:spPr>
          <a:xfrm>
            <a:off x="411480" y="2816352"/>
            <a:ext cx="2926080" cy="420624"/>
          </a:xfrm>
          <a:prstGeom prst="rect">
            <a:avLst/>
          </a:prstGeom>
          <a:noFill/>
          <a:ln/>
        </p:spPr>
        <p:txBody>
          <a:bodyPr wrap="square" lIns="101600" tIns="101600" rIns="101600" bIns="101600" rtlCol="0" anchor="ctr"/>
          <a:lstStyle/>
          <a:p>
            <a:pPr marL="0" indent="0" algn="l">
              <a:buNone/>
            </a:pPr>
            <a:r>
              <a:rPr lang="en-US" sz="1000" dirty="0">
                <a:solidFill>
                  <a:srgbClr val="1B3A6B"/>
                </a:solidFill>
                <a:latin typeface="Arial" pitchFamily="34" charset="0"/>
                <a:ea typeface="Arial" pitchFamily="34" charset="-122"/>
                <a:cs typeface="Arial" pitchFamily="34" charset="-120"/>
              </a:rPr>
              <a:t>Countable</a:t>
            </a:r>
            <a:endParaRPr lang="en-US" sz="1000" dirty="0"/>
          </a:p>
        </p:txBody>
      </p:sp>
      <p:sp>
        <p:nvSpPr>
          <p:cNvPr id="29" name="Shape 27"/>
          <p:cNvSpPr/>
          <p:nvPr/>
        </p:nvSpPr>
        <p:spPr>
          <a:xfrm>
            <a:off x="3337560" y="2816352"/>
            <a:ext cx="1417320" cy="420624"/>
          </a:xfrm>
          <a:prstGeom prst="rect">
            <a:avLst/>
          </a:prstGeom>
          <a:solidFill>
            <a:srgbClr val="FFFFFF"/>
          </a:solidFill>
          <a:ln w="12700">
            <a:solidFill>
              <a:srgbClr val="E2E8F0"/>
            </a:solidFill>
            <a:prstDash val="solid"/>
          </a:ln>
        </p:spPr>
      </p:sp>
      <p:sp>
        <p:nvSpPr>
          <p:cNvPr id="30" name="Text 28"/>
          <p:cNvSpPr/>
          <p:nvPr/>
        </p:nvSpPr>
        <p:spPr>
          <a:xfrm>
            <a:off x="3337560" y="2816352"/>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0.67</a:t>
            </a:r>
            <a:endParaRPr lang="en-US" sz="1100" dirty="0"/>
          </a:p>
        </p:txBody>
      </p:sp>
      <p:sp>
        <p:nvSpPr>
          <p:cNvPr id="31" name="Shape 29"/>
          <p:cNvSpPr/>
          <p:nvPr/>
        </p:nvSpPr>
        <p:spPr>
          <a:xfrm>
            <a:off x="4754880" y="2816352"/>
            <a:ext cx="1417320" cy="420624"/>
          </a:xfrm>
          <a:prstGeom prst="rect">
            <a:avLst/>
          </a:prstGeom>
          <a:solidFill>
            <a:srgbClr val="FFFFFF"/>
          </a:solidFill>
          <a:ln w="12700">
            <a:solidFill>
              <a:srgbClr val="E2E8F0"/>
            </a:solidFill>
            <a:prstDash val="solid"/>
          </a:ln>
        </p:spPr>
      </p:sp>
      <p:sp>
        <p:nvSpPr>
          <p:cNvPr id="32" name="Text 30"/>
          <p:cNvSpPr/>
          <p:nvPr/>
        </p:nvSpPr>
        <p:spPr>
          <a:xfrm>
            <a:off x="4754880" y="2816352"/>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0.89</a:t>
            </a:r>
            <a:endParaRPr lang="en-US" sz="1100" dirty="0"/>
          </a:p>
        </p:txBody>
      </p:sp>
      <p:sp>
        <p:nvSpPr>
          <p:cNvPr id="33" name="Shape 31"/>
          <p:cNvSpPr/>
          <p:nvPr/>
        </p:nvSpPr>
        <p:spPr>
          <a:xfrm>
            <a:off x="6172200" y="2816352"/>
            <a:ext cx="1417320" cy="420624"/>
          </a:xfrm>
          <a:prstGeom prst="rect">
            <a:avLst/>
          </a:prstGeom>
          <a:solidFill>
            <a:srgbClr val="FFFFFF"/>
          </a:solidFill>
          <a:ln w="12700">
            <a:solidFill>
              <a:srgbClr val="E2E8F0"/>
            </a:solidFill>
            <a:prstDash val="solid"/>
          </a:ln>
        </p:spPr>
      </p:sp>
      <p:sp>
        <p:nvSpPr>
          <p:cNvPr id="34" name="Text 32"/>
          <p:cNvSpPr/>
          <p:nvPr/>
        </p:nvSpPr>
        <p:spPr>
          <a:xfrm>
            <a:off x="6172200" y="2816352"/>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0.76</a:t>
            </a:r>
            <a:endParaRPr lang="en-US" sz="1100" dirty="0"/>
          </a:p>
        </p:txBody>
      </p:sp>
      <p:sp>
        <p:nvSpPr>
          <p:cNvPr id="35" name="Shape 33"/>
          <p:cNvSpPr/>
          <p:nvPr/>
        </p:nvSpPr>
        <p:spPr>
          <a:xfrm>
            <a:off x="7589520" y="2816352"/>
            <a:ext cx="1417320" cy="420624"/>
          </a:xfrm>
          <a:prstGeom prst="rect">
            <a:avLst/>
          </a:prstGeom>
          <a:solidFill>
            <a:srgbClr val="FFFFFF"/>
          </a:solidFill>
          <a:ln w="12700">
            <a:solidFill>
              <a:srgbClr val="E2E8F0"/>
            </a:solidFill>
            <a:prstDash val="solid"/>
          </a:ln>
        </p:spPr>
      </p:sp>
      <p:sp>
        <p:nvSpPr>
          <p:cNvPr id="36" name="Text 34"/>
          <p:cNvSpPr/>
          <p:nvPr/>
        </p:nvSpPr>
        <p:spPr>
          <a:xfrm>
            <a:off x="7589520" y="2816352"/>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9</a:t>
            </a:r>
            <a:endParaRPr lang="en-US" sz="1100" dirty="0"/>
          </a:p>
        </p:txBody>
      </p:sp>
      <p:sp>
        <p:nvSpPr>
          <p:cNvPr id="37" name="Shape 35"/>
          <p:cNvSpPr/>
          <p:nvPr/>
        </p:nvSpPr>
        <p:spPr>
          <a:xfrm>
            <a:off x="411480" y="3255264"/>
            <a:ext cx="2926080" cy="420624"/>
          </a:xfrm>
          <a:prstGeom prst="rect">
            <a:avLst/>
          </a:prstGeom>
          <a:solidFill>
            <a:srgbClr val="E8F4F8"/>
          </a:solidFill>
          <a:ln w="12700">
            <a:solidFill>
              <a:srgbClr val="E2E8F0"/>
            </a:solidFill>
            <a:prstDash val="solid"/>
          </a:ln>
        </p:spPr>
      </p:sp>
      <p:sp>
        <p:nvSpPr>
          <p:cNvPr id="38" name="Text 36"/>
          <p:cNvSpPr/>
          <p:nvPr/>
        </p:nvSpPr>
        <p:spPr>
          <a:xfrm>
            <a:off x="411480" y="3255264"/>
            <a:ext cx="2926080" cy="420624"/>
          </a:xfrm>
          <a:prstGeom prst="rect">
            <a:avLst/>
          </a:prstGeom>
          <a:noFill/>
          <a:ln/>
        </p:spPr>
        <p:txBody>
          <a:bodyPr wrap="square" lIns="101600" tIns="101600" rIns="101600" bIns="101600" rtlCol="0" anchor="ctr"/>
          <a:lstStyle/>
          <a:p>
            <a:pPr marL="0" indent="0" algn="l">
              <a:buNone/>
            </a:pPr>
            <a:r>
              <a:rPr lang="en-US" sz="1000" dirty="0">
                <a:solidFill>
                  <a:srgbClr val="1B3A6B"/>
                </a:solidFill>
                <a:latin typeface="Arial" pitchFamily="34" charset="0"/>
                <a:ea typeface="Arial" pitchFamily="34" charset="-122"/>
                <a:cs typeface="Arial" pitchFamily="34" charset="-120"/>
              </a:rPr>
              <a:t>Not Countable (TNTC/TFTC)</a:t>
            </a:r>
            <a:endParaRPr lang="en-US" sz="1000" dirty="0"/>
          </a:p>
        </p:txBody>
      </p:sp>
      <p:sp>
        <p:nvSpPr>
          <p:cNvPr id="39" name="Shape 37"/>
          <p:cNvSpPr/>
          <p:nvPr/>
        </p:nvSpPr>
        <p:spPr>
          <a:xfrm>
            <a:off x="3337560" y="3255264"/>
            <a:ext cx="1417320" cy="420624"/>
          </a:xfrm>
          <a:prstGeom prst="rect">
            <a:avLst/>
          </a:prstGeom>
          <a:solidFill>
            <a:srgbClr val="E8F4F8"/>
          </a:solidFill>
          <a:ln w="12700">
            <a:solidFill>
              <a:srgbClr val="E2E8F0"/>
            </a:solidFill>
            <a:prstDash val="solid"/>
          </a:ln>
        </p:spPr>
      </p:sp>
      <p:sp>
        <p:nvSpPr>
          <p:cNvPr id="40" name="Text 38"/>
          <p:cNvSpPr/>
          <p:nvPr/>
        </p:nvSpPr>
        <p:spPr>
          <a:xfrm>
            <a:off x="3337560" y="3255264"/>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0.93</a:t>
            </a:r>
            <a:endParaRPr lang="en-US" sz="1100" dirty="0"/>
          </a:p>
        </p:txBody>
      </p:sp>
      <p:sp>
        <p:nvSpPr>
          <p:cNvPr id="41" name="Shape 39"/>
          <p:cNvSpPr/>
          <p:nvPr/>
        </p:nvSpPr>
        <p:spPr>
          <a:xfrm>
            <a:off x="4754880" y="3255264"/>
            <a:ext cx="1417320" cy="420624"/>
          </a:xfrm>
          <a:prstGeom prst="rect">
            <a:avLst/>
          </a:prstGeom>
          <a:solidFill>
            <a:srgbClr val="E8F4F8"/>
          </a:solidFill>
          <a:ln w="12700">
            <a:solidFill>
              <a:srgbClr val="E2E8F0"/>
            </a:solidFill>
            <a:prstDash val="solid"/>
          </a:ln>
        </p:spPr>
      </p:sp>
      <p:sp>
        <p:nvSpPr>
          <p:cNvPr id="42" name="Text 40"/>
          <p:cNvSpPr/>
          <p:nvPr/>
        </p:nvSpPr>
        <p:spPr>
          <a:xfrm>
            <a:off x="4754880" y="3255264"/>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0.76</a:t>
            </a:r>
            <a:endParaRPr lang="en-US" sz="1100" dirty="0"/>
          </a:p>
        </p:txBody>
      </p:sp>
      <p:sp>
        <p:nvSpPr>
          <p:cNvPr id="43" name="Shape 41"/>
          <p:cNvSpPr/>
          <p:nvPr/>
        </p:nvSpPr>
        <p:spPr>
          <a:xfrm>
            <a:off x="6172200" y="3255264"/>
            <a:ext cx="1417320" cy="420624"/>
          </a:xfrm>
          <a:prstGeom prst="rect">
            <a:avLst/>
          </a:prstGeom>
          <a:solidFill>
            <a:srgbClr val="E8F4F8"/>
          </a:solidFill>
          <a:ln w="12700">
            <a:solidFill>
              <a:srgbClr val="E2E8F0"/>
            </a:solidFill>
            <a:prstDash val="solid"/>
          </a:ln>
        </p:spPr>
      </p:sp>
      <p:sp>
        <p:nvSpPr>
          <p:cNvPr id="44" name="Text 42"/>
          <p:cNvSpPr/>
          <p:nvPr/>
        </p:nvSpPr>
        <p:spPr>
          <a:xfrm>
            <a:off x="6172200" y="3255264"/>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0.84</a:t>
            </a:r>
            <a:endParaRPr lang="en-US" sz="1100" dirty="0"/>
          </a:p>
        </p:txBody>
      </p:sp>
      <p:sp>
        <p:nvSpPr>
          <p:cNvPr id="45" name="Shape 43"/>
          <p:cNvSpPr/>
          <p:nvPr/>
        </p:nvSpPr>
        <p:spPr>
          <a:xfrm>
            <a:off x="7589520" y="3255264"/>
            <a:ext cx="1417320" cy="420624"/>
          </a:xfrm>
          <a:prstGeom prst="rect">
            <a:avLst/>
          </a:prstGeom>
          <a:solidFill>
            <a:srgbClr val="E8F4F8"/>
          </a:solidFill>
          <a:ln w="12700">
            <a:solidFill>
              <a:srgbClr val="E2E8F0"/>
            </a:solidFill>
            <a:prstDash val="solid"/>
          </a:ln>
        </p:spPr>
      </p:sp>
      <p:sp>
        <p:nvSpPr>
          <p:cNvPr id="46" name="Text 44"/>
          <p:cNvSpPr/>
          <p:nvPr/>
        </p:nvSpPr>
        <p:spPr>
          <a:xfrm>
            <a:off x="7589520" y="3255264"/>
            <a:ext cx="1417320" cy="420624"/>
          </a:xfrm>
          <a:prstGeom prst="rect">
            <a:avLst/>
          </a:prstGeom>
          <a:noFill/>
          <a:ln/>
        </p:spPr>
        <p:txBody>
          <a:bodyPr wrap="square" lIns="0" tIns="0" rIns="0" bIns="0" rtlCol="0" anchor="ctr"/>
          <a:lstStyle/>
          <a:p>
            <a:pPr marL="0" indent="0" algn="ctr">
              <a:buNone/>
            </a:pPr>
            <a:r>
              <a:rPr lang="en-US" sz="1100" dirty="0">
                <a:solidFill>
                  <a:srgbClr val="1B3A6B"/>
                </a:solidFill>
                <a:latin typeface="Arial" pitchFamily="34" charset="0"/>
                <a:ea typeface="Arial" pitchFamily="34" charset="-122"/>
                <a:cs typeface="Arial" pitchFamily="34" charset="-120"/>
              </a:rPr>
              <a:t>17</a:t>
            </a:r>
            <a:endParaRPr lang="en-US" sz="1100" dirty="0"/>
          </a:p>
        </p:txBody>
      </p:sp>
      <p:sp>
        <p:nvSpPr>
          <p:cNvPr id="47" name="Shape 45"/>
          <p:cNvSpPr/>
          <p:nvPr/>
        </p:nvSpPr>
        <p:spPr>
          <a:xfrm>
            <a:off x="411480" y="3694176"/>
            <a:ext cx="2926080" cy="420624"/>
          </a:xfrm>
          <a:prstGeom prst="rect">
            <a:avLst/>
          </a:prstGeom>
          <a:solidFill>
            <a:srgbClr val="FFFFFF"/>
          </a:solidFill>
          <a:ln w="12700">
            <a:solidFill>
              <a:srgbClr val="E2E8F0"/>
            </a:solidFill>
            <a:prstDash val="solid"/>
          </a:ln>
        </p:spPr>
      </p:sp>
      <p:sp>
        <p:nvSpPr>
          <p:cNvPr id="48" name="Text 46"/>
          <p:cNvSpPr/>
          <p:nvPr/>
        </p:nvSpPr>
        <p:spPr>
          <a:xfrm>
            <a:off x="411480" y="3694176"/>
            <a:ext cx="2926080" cy="420624"/>
          </a:xfrm>
          <a:prstGeom prst="rect">
            <a:avLst/>
          </a:prstGeom>
          <a:noFill/>
          <a:ln/>
        </p:spPr>
        <p:txBody>
          <a:bodyPr wrap="square" lIns="101600" tIns="101600" rIns="101600" bIns="101600" rtlCol="0" anchor="ctr"/>
          <a:lstStyle/>
          <a:p>
            <a:pPr marL="0" indent="0" algn="l">
              <a:buNone/>
            </a:pPr>
            <a:r>
              <a:rPr lang="en-US" sz="1000" b="1" dirty="0">
                <a:solidFill>
                  <a:srgbClr val="1B3A6B"/>
                </a:solidFill>
                <a:latin typeface="Arial" pitchFamily="34" charset="0"/>
                <a:ea typeface="Arial" pitchFamily="34" charset="-122"/>
                <a:cs typeface="Arial" pitchFamily="34" charset="-120"/>
              </a:rPr>
              <a:t>Overall (Weighted)</a:t>
            </a:r>
            <a:endParaRPr lang="en-US" sz="1000" dirty="0"/>
          </a:p>
        </p:txBody>
      </p:sp>
      <p:sp>
        <p:nvSpPr>
          <p:cNvPr id="49" name="Shape 47"/>
          <p:cNvSpPr/>
          <p:nvPr/>
        </p:nvSpPr>
        <p:spPr>
          <a:xfrm>
            <a:off x="3337560" y="3694176"/>
            <a:ext cx="1417320" cy="420624"/>
          </a:xfrm>
          <a:prstGeom prst="rect">
            <a:avLst/>
          </a:prstGeom>
          <a:solidFill>
            <a:srgbClr val="FFFFFF"/>
          </a:solidFill>
          <a:ln w="12700">
            <a:solidFill>
              <a:srgbClr val="E2E8F0"/>
            </a:solidFill>
            <a:prstDash val="solid"/>
          </a:ln>
        </p:spPr>
      </p:sp>
      <p:sp>
        <p:nvSpPr>
          <p:cNvPr id="50" name="Text 48"/>
          <p:cNvSpPr/>
          <p:nvPr/>
        </p:nvSpPr>
        <p:spPr>
          <a:xfrm>
            <a:off x="3337560" y="3694176"/>
            <a:ext cx="1417320" cy="420624"/>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0.84</a:t>
            </a:r>
            <a:endParaRPr lang="en-US" sz="1100" dirty="0"/>
          </a:p>
        </p:txBody>
      </p:sp>
      <p:sp>
        <p:nvSpPr>
          <p:cNvPr id="51" name="Shape 49"/>
          <p:cNvSpPr/>
          <p:nvPr/>
        </p:nvSpPr>
        <p:spPr>
          <a:xfrm>
            <a:off x="4754880" y="3694176"/>
            <a:ext cx="1417320" cy="420624"/>
          </a:xfrm>
          <a:prstGeom prst="rect">
            <a:avLst/>
          </a:prstGeom>
          <a:solidFill>
            <a:srgbClr val="FFFFFF"/>
          </a:solidFill>
          <a:ln w="12700">
            <a:solidFill>
              <a:srgbClr val="E2E8F0"/>
            </a:solidFill>
            <a:prstDash val="solid"/>
          </a:ln>
        </p:spPr>
      </p:sp>
      <p:sp>
        <p:nvSpPr>
          <p:cNvPr id="52" name="Text 50"/>
          <p:cNvSpPr/>
          <p:nvPr/>
        </p:nvSpPr>
        <p:spPr>
          <a:xfrm>
            <a:off x="4754880" y="3694176"/>
            <a:ext cx="1417320" cy="420624"/>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0.81</a:t>
            </a:r>
            <a:endParaRPr lang="en-US" sz="1100" dirty="0"/>
          </a:p>
        </p:txBody>
      </p:sp>
      <p:sp>
        <p:nvSpPr>
          <p:cNvPr id="53" name="Shape 51"/>
          <p:cNvSpPr/>
          <p:nvPr/>
        </p:nvSpPr>
        <p:spPr>
          <a:xfrm>
            <a:off x="6172200" y="3694176"/>
            <a:ext cx="1417320" cy="420624"/>
          </a:xfrm>
          <a:prstGeom prst="rect">
            <a:avLst/>
          </a:prstGeom>
          <a:solidFill>
            <a:srgbClr val="FFFFFF"/>
          </a:solidFill>
          <a:ln w="12700">
            <a:solidFill>
              <a:srgbClr val="E2E8F0"/>
            </a:solidFill>
            <a:prstDash val="solid"/>
          </a:ln>
        </p:spPr>
      </p:sp>
      <p:sp>
        <p:nvSpPr>
          <p:cNvPr id="54" name="Text 52"/>
          <p:cNvSpPr/>
          <p:nvPr/>
        </p:nvSpPr>
        <p:spPr>
          <a:xfrm>
            <a:off x="6172200" y="3694176"/>
            <a:ext cx="1417320" cy="420624"/>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0.81</a:t>
            </a:r>
            <a:endParaRPr lang="en-US" sz="1100" dirty="0"/>
          </a:p>
        </p:txBody>
      </p:sp>
      <p:sp>
        <p:nvSpPr>
          <p:cNvPr id="55" name="Shape 53"/>
          <p:cNvSpPr/>
          <p:nvPr/>
        </p:nvSpPr>
        <p:spPr>
          <a:xfrm>
            <a:off x="7589520" y="3694176"/>
            <a:ext cx="1417320" cy="420624"/>
          </a:xfrm>
          <a:prstGeom prst="rect">
            <a:avLst/>
          </a:prstGeom>
          <a:solidFill>
            <a:srgbClr val="FFFFFF"/>
          </a:solidFill>
          <a:ln w="12700">
            <a:solidFill>
              <a:srgbClr val="E2E8F0"/>
            </a:solidFill>
            <a:prstDash val="solid"/>
          </a:ln>
        </p:spPr>
      </p:sp>
      <p:sp>
        <p:nvSpPr>
          <p:cNvPr id="56" name="Text 54"/>
          <p:cNvSpPr/>
          <p:nvPr/>
        </p:nvSpPr>
        <p:spPr>
          <a:xfrm>
            <a:off x="7589520" y="3694176"/>
            <a:ext cx="1417320" cy="420624"/>
          </a:xfrm>
          <a:prstGeom prst="rect">
            <a:avLst/>
          </a:prstGeom>
          <a:noFill/>
          <a:ln/>
        </p:spPr>
        <p:txBody>
          <a:bodyPr wrap="square" lIns="0" tIns="0" rIns="0" bIns="0" rtlCol="0" anchor="ctr"/>
          <a:lstStyle/>
          <a:p>
            <a:pPr marL="0" indent="0" algn="ctr">
              <a:buNone/>
            </a:pPr>
            <a:r>
              <a:rPr lang="en-US" sz="1100" b="1" dirty="0">
                <a:solidFill>
                  <a:srgbClr val="1B3A6B"/>
                </a:solidFill>
                <a:latin typeface="Arial" pitchFamily="34" charset="0"/>
                <a:ea typeface="Arial" pitchFamily="34" charset="-122"/>
                <a:cs typeface="Arial" pitchFamily="34" charset="-120"/>
              </a:rPr>
              <a:t>26</a:t>
            </a:r>
            <a:endParaRPr lang="en-US" sz="1100" dirty="0"/>
          </a:p>
        </p:txBody>
      </p:sp>
      <p:sp>
        <p:nvSpPr>
          <p:cNvPr id="57" name="Text 55"/>
          <p:cNvSpPr/>
          <p:nvPr/>
        </p:nvSpPr>
        <p:spPr>
          <a:xfrm>
            <a:off x="411480" y="4251960"/>
            <a:ext cx="8321040" cy="411480"/>
          </a:xfrm>
          <a:prstGeom prst="rect">
            <a:avLst/>
          </a:prstGeom>
          <a:noFill/>
          <a:ln/>
        </p:spPr>
        <p:txBody>
          <a:bodyPr wrap="square" rtlCol="0" anchor="ctr"/>
          <a:lstStyle/>
          <a:p>
            <a:pPr marL="0" indent="0" algn="ctr">
              <a:buNone/>
            </a:pPr>
            <a:r>
              <a:rPr lang="en-US" sz="1050" dirty="0">
                <a:solidFill>
                  <a:srgbClr val="64748B"/>
                </a:solidFill>
                <a:latin typeface="Arial" pitchFamily="34" charset="0"/>
                <a:ea typeface="Arial" pitchFamily="34" charset="-122"/>
                <a:cs typeface="Arial" pitchFamily="34" charset="-120"/>
              </a:rPr>
              <a:t>High recall (0.89) ensures valid plates are rarely missed.  High not-countable precision (0.93) prevents TNTC/TFTC plates from being wrongly auto-counted.</a:t>
            </a:r>
            <a:endParaRPr lang="en-US" sz="10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ROBUSTNESS ANALYSIS</a:t>
            </a:r>
            <a:endParaRPr lang="en-US" sz="900" dirty="0"/>
          </a:p>
        </p:txBody>
      </p:sp>
      <p:sp>
        <p:nvSpPr>
          <p:cNvPr id="4" name="Text 2"/>
          <p:cNvSpPr/>
          <p:nvPr/>
        </p:nvSpPr>
        <p:spPr>
          <a:xfrm>
            <a:off x="411480" y="566928"/>
            <a:ext cx="8321040" cy="45720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Performance Under Imaging Perturbations</a:t>
            </a:r>
            <a:endParaRPr lang="en-US" sz="2600" dirty="0"/>
          </a:p>
        </p:txBody>
      </p:sp>
      <p:sp>
        <p:nvSpPr>
          <p:cNvPr id="5" name="Shape 3"/>
          <p:cNvSpPr/>
          <p:nvPr/>
        </p:nvSpPr>
        <p:spPr>
          <a:xfrm>
            <a:off x="411480" y="1170432"/>
            <a:ext cx="2697480" cy="2286000"/>
          </a:xfrm>
          <a:prstGeom prst="roundRect">
            <a:avLst>
              <a:gd name="adj" fmla="val 48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6" name="Text 4"/>
          <p:cNvSpPr/>
          <p:nvPr/>
        </p:nvSpPr>
        <p:spPr>
          <a:xfrm>
            <a:off x="411480" y="1307592"/>
            <a:ext cx="2697480"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411480" y="1828800"/>
            <a:ext cx="2697480" cy="320040"/>
          </a:xfrm>
          <a:prstGeom prst="rect">
            <a:avLst/>
          </a:prstGeom>
          <a:noFill/>
          <a:ln/>
        </p:spPr>
        <p:txBody>
          <a:bodyPr wrap="square" rtlCol="0" anchor="ctr"/>
          <a:lstStyle/>
          <a:p>
            <a:pPr marL="0" indent="0" algn="ctr">
              <a:buNone/>
            </a:pPr>
            <a:r>
              <a:rPr lang="en-US" sz="1200" b="1" dirty="0">
                <a:solidFill>
                  <a:srgbClr val="1B3A6B"/>
                </a:solidFill>
                <a:latin typeface="Arial" pitchFamily="34" charset="0"/>
                <a:ea typeface="Arial" pitchFamily="34" charset="-122"/>
                <a:cs typeface="Arial" pitchFamily="34" charset="-120"/>
              </a:rPr>
              <a:t>Low Illumination</a:t>
            </a:r>
            <a:endParaRPr lang="en-US" sz="1200" dirty="0"/>
          </a:p>
        </p:txBody>
      </p:sp>
      <p:sp>
        <p:nvSpPr>
          <p:cNvPr id="8" name="Text 6"/>
          <p:cNvSpPr/>
          <p:nvPr/>
        </p:nvSpPr>
        <p:spPr>
          <a:xfrm>
            <a:off x="411480" y="2139696"/>
            <a:ext cx="2697480" cy="256032"/>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Gamma-darkened image</a:t>
            </a:r>
            <a:endParaRPr lang="en-US" sz="900" dirty="0"/>
          </a:p>
        </p:txBody>
      </p:sp>
      <p:sp>
        <p:nvSpPr>
          <p:cNvPr id="9" name="Text 7"/>
          <p:cNvSpPr/>
          <p:nvPr/>
        </p:nvSpPr>
        <p:spPr>
          <a:xfrm>
            <a:off x="411480" y="2432304"/>
            <a:ext cx="2697480" cy="438912"/>
          </a:xfrm>
          <a:prstGeom prst="rect">
            <a:avLst/>
          </a:prstGeom>
          <a:noFill/>
          <a:ln/>
        </p:spPr>
        <p:txBody>
          <a:bodyPr wrap="square"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&lt; 10 count deviation</a:t>
            </a:r>
            <a:endParaRPr lang="en-US" sz="1000" dirty="0"/>
          </a:p>
          <a:p>
            <a:pPr marL="0" indent="0" algn="ctr">
              <a:buNone/>
            </a:pPr>
            <a:r>
              <a:rPr lang="en-US" sz="1000" dirty="0">
                <a:solidFill>
                  <a:srgbClr val="64748B"/>
                </a:solidFill>
                <a:latin typeface="Arial" pitchFamily="34" charset="0"/>
                <a:ea typeface="Arial" pitchFamily="34" charset="-122"/>
                <a:cs typeface="Arial" pitchFamily="34" charset="-120"/>
              </a:rPr>
              <a:t>on most plates</a:t>
            </a:r>
            <a:endParaRPr lang="en-US" sz="1000" dirty="0"/>
          </a:p>
        </p:txBody>
      </p:sp>
      <p:sp>
        <p:nvSpPr>
          <p:cNvPr id="10" name="Shape 8"/>
          <p:cNvSpPr/>
          <p:nvPr/>
        </p:nvSpPr>
        <p:spPr>
          <a:xfrm>
            <a:off x="868680" y="2953512"/>
            <a:ext cx="1783080" cy="310896"/>
          </a:xfrm>
          <a:prstGeom prst="roundRect">
            <a:avLst>
              <a:gd name="adj" fmla="val 23529"/>
            </a:avLst>
          </a:prstGeom>
          <a:solidFill>
            <a:srgbClr val="16A34A"/>
          </a:solidFill>
          <a:ln w="12700">
            <a:solidFill>
              <a:srgbClr val="16A34A"/>
            </a:solidFill>
            <a:prstDash val="solid"/>
          </a:ln>
        </p:spPr>
      </p:sp>
      <p:sp>
        <p:nvSpPr>
          <p:cNvPr id="11" name="Text 9"/>
          <p:cNvSpPr/>
          <p:nvPr/>
        </p:nvSpPr>
        <p:spPr>
          <a:xfrm>
            <a:off x="868680" y="2953512"/>
            <a:ext cx="17830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Robust</a:t>
            </a:r>
            <a:endParaRPr lang="en-US" sz="1000" dirty="0"/>
          </a:p>
        </p:txBody>
      </p:sp>
      <p:sp>
        <p:nvSpPr>
          <p:cNvPr id="12" name="Shape 10"/>
          <p:cNvSpPr/>
          <p:nvPr/>
        </p:nvSpPr>
        <p:spPr>
          <a:xfrm>
            <a:off x="3291840" y="1170432"/>
            <a:ext cx="2697480" cy="2286000"/>
          </a:xfrm>
          <a:prstGeom prst="roundRect">
            <a:avLst>
              <a:gd name="adj" fmla="val 48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13" name="Text 11"/>
          <p:cNvSpPr/>
          <p:nvPr/>
        </p:nvSpPr>
        <p:spPr>
          <a:xfrm>
            <a:off x="3291840" y="1307592"/>
            <a:ext cx="2697480"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4" name="Text 12"/>
          <p:cNvSpPr/>
          <p:nvPr/>
        </p:nvSpPr>
        <p:spPr>
          <a:xfrm>
            <a:off x="3291840" y="1828800"/>
            <a:ext cx="2697480" cy="320040"/>
          </a:xfrm>
          <a:prstGeom prst="rect">
            <a:avLst/>
          </a:prstGeom>
          <a:noFill/>
          <a:ln/>
        </p:spPr>
        <p:txBody>
          <a:bodyPr wrap="square" rtlCol="0" anchor="ctr"/>
          <a:lstStyle/>
          <a:p>
            <a:pPr marL="0" indent="0" algn="ctr">
              <a:buNone/>
            </a:pPr>
            <a:r>
              <a:rPr lang="en-US" sz="1200" b="1" dirty="0">
                <a:solidFill>
                  <a:srgbClr val="1B3A6B"/>
                </a:solidFill>
                <a:latin typeface="Arial" pitchFamily="34" charset="0"/>
                <a:ea typeface="Arial" pitchFamily="34" charset="-122"/>
                <a:cs typeface="Arial" pitchFamily="34" charset="-120"/>
              </a:rPr>
              <a:t>High Illumination</a:t>
            </a:r>
            <a:endParaRPr lang="en-US" sz="1200" dirty="0"/>
          </a:p>
        </p:txBody>
      </p:sp>
      <p:sp>
        <p:nvSpPr>
          <p:cNvPr id="15" name="Text 13"/>
          <p:cNvSpPr/>
          <p:nvPr/>
        </p:nvSpPr>
        <p:spPr>
          <a:xfrm>
            <a:off x="3291840" y="2139696"/>
            <a:ext cx="2697480" cy="256032"/>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Gamma-brightened image</a:t>
            </a:r>
            <a:endParaRPr lang="en-US" sz="900" dirty="0"/>
          </a:p>
        </p:txBody>
      </p:sp>
      <p:sp>
        <p:nvSpPr>
          <p:cNvPr id="16" name="Text 14"/>
          <p:cNvSpPr/>
          <p:nvPr/>
        </p:nvSpPr>
        <p:spPr>
          <a:xfrm>
            <a:off x="3291840" y="2432304"/>
            <a:ext cx="2697480" cy="438912"/>
          </a:xfrm>
          <a:prstGeom prst="rect">
            <a:avLst/>
          </a:prstGeom>
          <a:noFill/>
          <a:ln/>
        </p:spPr>
        <p:txBody>
          <a:bodyPr wrap="square"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&lt; 8 count deviation</a:t>
            </a:r>
            <a:endParaRPr lang="en-US" sz="1000" dirty="0"/>
          </a:p>
          <a:p>
            <a:pPr marL="0" indent="0" algn="ctr">
              <a:buNone/>
            </a:pPr>
            <a:r>
              <a:rPr lang="en-US" sz="1000" dirty="0">
                <a:solidFill>
                  <a:srgbClr val="64748B"/>
                </a:solidFill>
                <a:latin typeface="Arial" pitchFamily="34" charset="0"/>
                <a:ea typeface="Arial" pitchFamily="34" charset="-122"/>
                <a:cs typeface="Arial" pitchFamily="34" charset="-120"/>
              </a:rPr>
              <a:t>on most plates</a:t>
            </a:r>
            <a:endParaRPr lang="en-US" sz="1000" dirty="0"/>
          </a:p>
        </p:txBody>
      </p:sp>
      <p:sp>
        <p:nvSpPr>
          <p:cNvPr id="17" name="Shape 15"/>
          <p:cNvSpPr/>
          <p:nvPr/>
        </p:nvSpPr>
        <p:spPr>
          <a:xfrm>
            <a:off x="3749040" y="2953512"/>
            <a:ext cx="1783080" cy="310896"/>
          </a:xfrm>
          <a:prstGeom prst="roundRect">
            <a:avLst>
              <a:gd name="adj" fmla="val 23529"/>
            </a:avLst>
          </a:prstGeom>
          <a:solidFill>
            <a:srgbClr val="16A34A"/>
          </a:solidFill>
          <a:ln w="12700">
            <a:solidFill>
              <a:srgbClr val="16A34A"/>
            </a:solidFill>
            <a:prstDash val="solid"/>
          </a:ln>
        </p:spPr>
      </p:sp>
      <p:sp>
        <p:nvSpPr>
          <p:cNvPr id="18" name="Text 16"/>
          <p:cNvSpPr/>
          <p:nvPr/>
        </p:nvSpPr>
        <p:spPr>
          <a:xfrm>
            <a:off x="3749040" y="2953512"/>
            <a:ext cx="17830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Robust</a:t>
            </a:r>
            <a:endParaRPr lang="en-US" sz="1000" dirty="0"/>
          </a:p>
        </p:txBody>
      </p:sp>
      <p:sp>
        <p:nvSpPr>
          <p:cNvPr id="19" name="Shape 17"/>
          <p:cNvSpPr/>
          <p:nvPr/>
        </p:nvSpPr>
        <p:spPr>
          <a:xfrm>
            <a:off x="6172200" y="1170432"/>
            <a:ext cx="2697480" cy="2286000"/>
          </a:xfrm>
          <a:prstGeom prst="roundRect">
            <a:avLst>
              <a:gd name="adj" fmla="val 4800"/>
            </a:avLst>
          </a:prstGeom>
          <a:solidFill>
            <a:srgbClr val="FFFFFF"/>
          </a:solidFill>
          <a:ln w="12700">
            <a:solidFill>
              <a:srgbClr val="E2E8F0"/>
            </a:solidFill>
            <a:prstDash val="solid"/>
          </a:ln>
          <a:effectLst>
            <a:outerShdw blurRad="101600" dist="38100" dir="2700000" algn="bl" rotWithShape="0">
              <a:srgbClr val="000000">
                <a:alpha val="13000"/>
              </a:srgbClr>
            </a:outerShdw>
          </a:effectLst>
        </p:spPr>
      </p:sp>
      <p:sp>
        <p:nvSpPr>
          <p:cNvPr id="20" name="Text 18"/>
          <p:cNvSpPr/>
          <p:nvPr/>
        </p:nvSpPr>
        <p:spPr>
          <a:xfrm>
            <a:off x="6172200" y="1307592"/>
            <a:ext cx="2697480" cy="5029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21" name="Text 19"/>
          <p:cNvSpPr/>
          <p:nvPr/>
        </p:nvSpPr>
        <p:spPr>
          <a:xfrm>
            <a:off x="6172200" y="1828800"/>
            <a:ext cx="2697480" cy="320040"/>
          </a:xfrm>
          <a:prstGeom prst="rect">
            <a:avLst/>
          </a:prstGeom>
          <a:noFill/>
          <a:ln/>
        </p:spPr>
        <p:txBody>
          <a:bodyPr wrap="square" rtlCol="0" anchor="ctr"/>
          <a:lstStyle/>
          <a:p>
            <a:pPr marL="0" indent="0" algn="ctr">
              <a:buNone/>
            </a:pPr>
            <a:r>
              <a:rPr lang="en-US" sz="1200" b="1" dirty="0">
                <a:solidFill>
                  <a:srgbClr val="1B3A6B"/>
                </a:solidFill>
                <a:latin typeface="Arial" pitchFamily="34" charset="0"/>
                <a:ea typeface="Arial" pitchFamily="34" charset="-122"/>
                <a:cs typeface="Arial" pitchFamily="34" charset="-120"/>
              </a:rPr>
              <a:t>Gaussian Noise</a:t>
            </a:r>
            <a:endParaRPr lang="en-US" sz="1200" dirty="0"/>
          </a:p>
        </p:txBody>
      </p:sp>
      <p:sp>
        <p:nvSpPr>
          <p:cNvPr id="22" name="Text 20"/>
          <p:cNvSpPr/>
          <p:nvPr/>
        </p:nvSpPr>
        <p:spPr>
          <a:xfrm>
            <a:off x="6172200" y="2139696"/>
            <a:ext cx="2697480" cy="256032"/>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σ-noise injected</a:t>
            </a:r>
            <a:endParaRPr lang="en-US" sz="900" dirty="0"/>
          </a:p>
        </p:txBody>
      </p:sp>
      <p:sp>
        <p:nvSpPr>
          <p:cNvPr id="23" name="Text 21"/>
          <p:cNvSpPr/>
          <p:nvPr/>
        </p:nvSpPr>
        <p:spPr>
          <a:xfrm>
            <a:off x="6172200" y="2432304"/>
            <a:ext cx="2697480" cy="438912"/>
          </a:xfrm>
          <a:prstGeom prst="rect">
            <a:avLst/>
          </a:prstGeom>
          <a:noFill/>
          <a:ln/>
        </p:spPr>
        <p:txBody>
          <a:bodyPr wrap="square"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Dense plates collapse</a:t>
            </a:r>
            <a:endParaRPr lang="en-US" sz="1000" dirty="0"/>
          </a:p>
          <a:p>
            <a:pPr marL="0" indent="0" algn="ctr">
              <a:buNone/>
            </a:pPr>
            <a:r>
              <a:rPr lang="en-US" sz="1000" dirty="0">
                <a:solidFill>
                  <a:srgbClr val="64748B"/>
                </a:solidFill>
                <a:latin typeface="Arial" pitchFamily="34" charset="0"/>
                <a:ea typeface="Arial" pitchFamily="34" charset="-122"/>
                <a:cs typeface="Arial" pitchFamily="34" charset="-120"/>
              </a:rPr>
              <a:t>to 0 detections</a:t>
            </a:r>
            <a:endParaRPr lang="en-US" sz="1000" dirty="0"/>
          </a:p>
        </p:txBody>
      </p:sp>
      <p:sp>
        <p:nvSpPr>
          <p:cNvPr id="24" name="Shape 22"/>
          <p:cNvSpPr/>
          <p:nvPr/>
        </p:nvSpPr>
        <p:spPr>
          <a:xfrm>
            <a:off x="6629400" y="2953512"/>
            <a:ext cx="1783080" cy="310896"/>
          </a:xfrm>
          <a:prstGeom prst="roundRect">
            <a:avLst>
              <a:gd name="adj" fmla="val 23529"/>
            </a:avLst>
          </a:prstGeom>
          <a:solidFill>
            <a:srgbClr val="DC2626"/>
          </a:solidFill>
          <a:ln w="12700">
            <a:solidFill>
              <a:srgbClr val="DC2626"/>
            </a:solidFill>
            <a:prstDash val="solid"/>
          </a:ln>
        </p:spPr>
      </p:sp>
      <p:sp>
        <p:nvSpPr>
          <p:cNvPr id="25" name="Text 23"/>
          <p:cNvSpPr/>
          <p:nvPr/>
        </p:nvSpPr>
        <p:spPr>
          <a:xfrm>
            <a:off x="6629400" y="2953512"/>
            <a:ext cx="1783080"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 Fragile</a:t>
            </a:r>
            <a:endParaRPr lang="en-US" sz="1000" dirty="0"/>
          </a:p>
        </p:txBody>
      </p:sp>
      <p:sp>
        <p:nvSpPr>
          <p:cNvPr id="26" name="Text 24"/>
          <p:cNvSpPr/>
          <p:nvPr/>
        </p:nvSpPr>
        <p:spPr>
          <a:xfrm>
            <a:off x="411480" y="3611880"/>
            <a:ext cx="8321040" cy="274320"/>
          </a:xfrm>
          <a:prstGeom prst="rect">
            <a:avLst/>
          </a:prstGeom>
          <a:noFill/>
          <a:ln/>
        </p:spPr>
        <p:txBody>
          <a:bodyPr wrap="square" rtlCol="0" anchor="ctr"/>
          <a:lstStyle/>
          <a:p>
            <a:pPr marL="0" indent="0">
              <a:buNone/>
            </a:pPr>
            <a:r>
              <a:rPr lang="en-US" sz="1100" b="1" dirty="0">
                <a:solidFill>
                  <a:srgbClr val="1B3A6B"/>
                </a:solidFill>
                <a:latin typeface="Arial" pitchFamily="34" charset="0"/>
                <a:ea typeface="Arial" pitchFamily="34" charset="-122"/>
                <a:cs typeface="Arial" pitchFamily="34" charset="-120"/>
              </a:rPr>
              <a:t>Sample Deviation Data</a:t>
            </a:r>
            <a:endParaRPr lang="en-US" sz="1100" dirty="0"/>
          </a:p>
        </p:txBody>
      </p:sp>
      <p:sp>
        <p:nvSpPr>
          <p:cNvPr id="27" name="Shape 25"/>
          <p:cNvSpPr/>
          <p:nvPr/>
        </p:nvSpPr>
        <p:spPr>
          <a:xfrm>
            <a:off x="411480" y="3913632"/>
            <a:ext cx="2560320" cy="301752"/>
          </a:xfrm>
          <a:prstGeom prst="rect">
            <a:avLst/>
          </a:prstGeom>
          <a:solidFill>
            <a:srgbClr val="1B3A6B"/>
          </a:solidFill>
          <a:ln w="12700">
            <a:solidFill>
              <a:srgbClr val="E2E8F0"/>
            </a:solidFill>
            <a:prstDash val="solid"/>
          </a:ln>
        </p:spPr>
      </p:sp>
      <p:sp>
        <p:nvSpPr>
          <p:cNvPr id="28" name="Text 26"/>
          <p:cNvSpPr/>
          <p:nvPr/>
        </p:nvSpPr>
        <p:spPr>
          <a:xfrm>
            <a:off x="411480" y="3913632"/>
            <a:ext cx="2560320" cy="301752"/>
          </a:xfrm>
          <a:prstGeom prst="rect">
            <a:avLst/>
          </a:prstGeom>
          <a:noFill/>
          <a:ln/>
        </p:spPr>
        <p:txBody>
          <a:bodyPr wrap="square" lIns="76200" tIns="76200" rIns="76200" bIns="762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Plate</a:t>
            </a:r>
            <a:endParaRPr lang="en-US" sz="900" dirty="0"/>
          </a:p>
        </p:txBody>
      </p:sp>
      <p:sp>
        <p:nvSpPr>
          <p:cNvPr id="29" name="Shape 27"/>
          <p:cNvSpPr/>
          <p:nvPr/>
        </p:nvSpPr>
        <p:spPr>
          <a:xfrm>
            <a:off x="2971800" y="3913632"/>
            <a:ext cx="1280160" cy="301752"/>
          </a:xfrm>
          <a:prstGeom prst="rect">
            <a:avLst/>
          </a:prstGeom>
          <a:solidFill>
            <a:srgbClr val="1B3A6B"/>
          </a:solidFill>
          <a:ln w="12700">
            <a:solidFill>
              <a:srgbClr val="E2E8F0"/>
            </a:solidFill>
            <a:prstDash val="solid"/>
          </a:ln>
        </p:spPr>
      </p:sp>
      <p:sp>
        <p:nvSpPr>
          <p:cNvPr id="30" name="Text 28"/>
          <p:cNvSpPr/>
          <p:nvPr/>
        </p:nvSpPr>
        <p:spPr>
          <a:xfrm>
            <a:off x="2971800" y="3913632"/>
            <a:ext cx="128016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Normal</a:t>
            </a:r>
            <a:endParaRPr lang="en-US" sz="900" dirty="0"/>
          </a:p>
        </p:txBody>
      </p:sp>
      <p:sp>
        <p:nvSpPr>
          <p:cNvPr id="31" name="Shape 29"/>
          <p:cNvSpPr/>
          <p:nvPr/>
        </p:nvSpPr>
        <p:spPr>
          <a:xfrm>
            <a:off x="4251960" y="3913632"/>
            <a:ext cx="1280160" cy="301752"/>
          </a:xfrm>
          <a:prstGeom prst="rect">
            <a:avLst/>
          </a:prstGeom>
          <a:solidFill>
            <a:srgbClr val="1B3A6B"/>
          </a:solidFill>
          <a:ln w="12700">
            <a:solidFill>
              <a:srgbClr val="E2E8F0"/>
            </a:solidFill>
            <a:prstDash val="solid"/>
          </a:ln>
        </p:spPr>
      </p:sp>
      <p:sp>
        <p:nvSpPr>
          <p:cNvPr id="32" name="Text 30"/>
          <p:cNvSpPr/>
          <p:nvPr/>
        </p:nvSpPr>
        <p:spPr>
          <a:xfrm>
            <a:off x="4251960" y="3913632"/>
            <a:ext cx="128016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Dark Δ</a:t>
            </a:r>
            <a:endParaRPr lang="en-US" sz="900" dirty="0"/>
          </a:p>
        </p:txBody>
      </p:sp>
      <p:sp>
        <p:nvSpPr>
          <p:cNvPr id="33" name="Shape 31"/>
          <p:cNvSpPr/>
          <p:nvPr/>
        </p:nvSpPr>
        <p:spPr>
          <a:xfrm>
            <a:off x="5532120" y="3913632"/>
            <a:ext cx="1280160" cy="301752"/>
          </a:xfrm>
          <a:prstGeom prst="rect">
            <a:avLst/>
          </a:prstGeom>
          <a:solidFill>
            <a:srgbClr val="1B3A6B"/>
          </a:solidFill>
          <a:ln w="12700">
            <a:solidFill>
              <a:srgbClr val="E2E8F0"/>
            </a:solidFill>
            <a:prstDash val="solid"/>
          </a:ln>
        </p:spPr>
      </p:sp>
      <p:sp>
        <p:nvSpPr>
          <p:cNvPr id="34" name="Text 32"/>
          <p:cNvSpPr/>
          <p:nvPr/>
        </p:nvSpPr>
        <p:spPr>
          <a:xfrm>
            <a:off x="5532120" y="3913632"/>
            <a:ext cx="128016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Bright Δ</a:t>
            </a:r>
            <a:endParaRPr lang="en-US" sz="900" dirty="0"/>
          </a:p>
        </p:txBody>
      </p:sp>
      <p:sp>
        <p:nvSpPr>
          <p:cNvPr id="35" name="Shape 33"/>
          <p:cNvSpPr/>
          <p:nvPr/>
        </p:nvSpPr>
        <p:spPr>
          <a:xfrm>
            <a:off x="6812280" y="3913632"/>
            <a:ext cx="1280160" cy="301752"/>
          </a:xfrm>
          <a:prstGeom prst="rect">
            <a:avLst/>
          </a:prstGeom>
          <a:solidFill>
            <a:srgbClr val="1B3A6B"/>
          </a:solidFill>
          <a:ln w="12700">
            <a:solidFill>
              <a:srgbClr val="E2E8F0"/>
            </a:solidFill>
            <a:prstDash val="solid"/>
          </a:ln>
        </p:spPr>
      </p:sp>
      <p:sp>
        <p:nvSpPr>
          <p:cNvPr id="36" name="Text 34"/>
          <p:cNvSpPr/>
          <p:nvPr/>
        </p:nvSpPr>
        <p:spPr>
          <a:xfrm>
            <a:off x="6812280" y="3913632"/>
            <a:ext cx="1280160" cy="30175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Noisy Δ</a:t>
            </a:r>
            <a:endParaRPr lang="en-US" sz="900" dirty="0"/>
          </a:p>
        </p:txBody>
      </p:sp>
      <p:sp>
        <p:nvSpPr>
          <p:cNvPr id="37" name="Shape 35"/>
          <p:cNvSpPr/>
          <p:nvPr/>
        </p:nvSpPr>
        <p:spPr>
          <a:xfrm>
            <a:off x="411480" y="4233672"/>
            <a:ext cx="2560320" cy="301752"/>
          </a:xfrm>
          <a:prstGeom prst="rect">
            <a:avLst/>
          </a:prstGeom>
          <a:solidFill>
            <a:srgbClr val="E8F4F8"/>
          </a:solidFill>
          <a:ln w="12700">
            <a:solidFill>
              <a:srgbClr val="E2E8F0"/>
            </a:solidFill>
            <a:prstDash val="solid"/>
          </a:ln>
        </p:spPr>
      </p:sp>
      <p:sp>
        <p:nvSpPr>
          <p:cNvPr id="38" name="Text 36"/>
          <p:cNvSpPr/>
          <p:nvPr/>
        </p:nvSpPr>
        <p:spPr>
          <a:xfrm>
            <a:off x="411480" y="4233672"/>
            <a:ext cx="2560320" cy="301752"/>
          </a:xfrm>
          <a:prstGeom prst="rect">
            <a:avLst/>
          </a:prstGeom>
          <a:noFill/>
          <a:ln/>
        </p:spPr>
        <p:txBody>
          <a:bodyPr wrap="square" lIns="76200" tIns="76200" rIns="76200" bIns="76200" rtlCol="0" anchor="ctr"/>
          <a:lstStyle/>
          <a:p>
            <a:pPr marL="0" indent="0" algn="l">
              <a:buNone/>
            </a:pPr>
            <a:r>
              <a:rPr lang="en-US" sz="900" dirty="0">
                <a:solidFill>
                  <a:srgbClr val="1B3A6B"/>
                </a:solidFill>
                <a:latin typeface="Arial" pitchFamily="34" charset="0"/>
                <a:ea typeface="Arial" pitchFamily="34" charset="-122"/>
                <a:cs typeface="Arial" pitchFamily="34" charset="-120"/>
              </a:rPr>
              <a:t>T4 10⁻⁷ (manual: 59)</a:t>
            </a:r>
            <a:endParaRPr lang="en-US" sz="900" dirty="0"/>
          </a:p>
        </p:txBody>
      </p:sp>
      <p:sp>
        <p:nvSpPr>
          <p:cNvPr id="39" name="Shape 37"/>
          <p:cNvSpPr/>
          <p:nvPr/>
        </p:nvSpPr>
        <p:spPr>
          <a:xfrm>
            <a:off x="2971800" y="4233672"/>
            <a:ext cx="1280160" cy="301752"/>
          </a:xfrm>
          <a:prstGeom prst="rect">
            <a:avLst/>
          </a:prstGeom>
          <a:solidFill>
            <a:srgbClr val="E8F4F8"/>
          </a:solidFill>
          <a:ln w="12700">
            <a:solidFill>
              <a:srgbClr val="E2E8F0"/>
            </a:solidFill>
            <a:prstDash val="solid"/>
          </a:ln>
        </p:spPr>
      </p:sp>
      <p:sp>
        <p:nvSpPr>
          <p:cNvPr id="40" name="Text 38"/>
          <p:cNvSpPr/>
          <p:nvPr/>
        </p:nvSpPr>
        <p:spPr>
          <a:xfrm>
            <a:off x="2971800" y="423367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67</a:t>
            </a:r>
            <a:endParaRPr lang="en-US" sz="900" dirty="0"/>
          </a:p>
        </p:txBody>
      </p:sp>
      <p:sp>
        <p:nvSpPr>
          <p:cNvPr id="41" name="Shape 39"/>
          <p:cNvSpPr/>
          <p:nvPr/>
        </p:nvSpPr>
        <p:spPr>
          <a:xfrm>
            <a:off x="4251960" y="4233672"/>
            <a:ext cx="1280160" cy="301752"/>
          </a:xfrm>
          <a:prstGeom prst="rect">
            <a:avLst/>
          </a:prstGeom>
          <a:solidFill>
            <a:srgbClr val="E8F4F8"/>
          </a:solidFill>
          <a:ln w="12700">
            <a:solidFill>
              <a:srgbClr val="E2E8F0"/>
            </a:solidFill>
            <a:prstDash val="solid"/>
          </a:ln>
        </p:spPr>
      </p:sp>
      <p:sp>
        <p:nvSpPr>
          <p:cNvPr id="42" name="Text 40"/>
          <p:cNvSpPr/>
          <p:nvPr/>
        </p:nvSpPr>
        <p:spPr>
          <a:xfrm>
            <a:off x="4251960" y="423367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+3</a:t>
            </a:r>
            <a:endParaRPr lang="en-US" sz="900" dirty="0"/>
          </a:p>
        </p:txBody>
      </p:sp>
      <p:sp>
        <p:nvSpPr>
          <p:cNvPr id="43" name="Shape 41"/>
          <p:cNvSpPr/>
          <p:nvPr/>
        </p:nvSpPr>
        <p:spPr>
          <a:xfrm>
            <a:off x="5532120" y="4233672"/>
            <a:ext cx="1280160" cy="301752"/>
          </a:xfrm>
          <a:prstGeom prst="rect">
            <a:avLst/>
          </a:prstGeom>
          <a:solidFill>
            <a:srgbClr val="E8F4F8"/>
          </a:solidFill>
          <a:ln w="12700">
            <a:solidFill>
              <a:srgbClr val="E2E8F0"/>
            </a:solidFill>
            <a:prstDash val="solid"/>
          </a:ln>
        </p:spPr>
      </p:sp>
      <p:sp>
        <p:nvSpPr>
          <p:cNvPr id="44" name="Text 42"/>
          <p:cNvSpPr/>
          <p:nvPr/>
        </p:nvSpPr>
        <p:spPr>
          <a:xfrm>
            <a:off x="5532120" y="423367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+5</a:t>
            </a:r>
            <a:endParaRPr lang="en-US" sz="900" dirty="0"/>
          </a:p>
        </p:txBody>
      </p:sp>
      <p:sp>
        <p:nvSpPr>
          <p:cNvPr id="45" name="Shape 43"/>
          <p:cNvSpPr/>
          <p:nvPr/>
        </p:nvSpPr>
        <p:spPr>
          <a:xfrm>
            <a:off x="6812280" y="4233672"/>
            <a:ext cx="1280160" cy="301752"/>
          </a:xfrm>
          <a:prstGeom prst="rect">
            <a:avLst/>
          </a:prstGeom>
          <a:solidFill>
            <a:srgbClr val="E8F4F8"/>
          </a:solidFill>
          <a:ln w="12700">
            <a:solidFill>
              <a:srgbClr val="E2E8F0"/>
            </a:solidFill>
            <a:prstDash val="solid"/>
          </a:ln>
        </p:spPr>
      </p:sp>
      <p:sp>
        <p:nvSpPr>
          <p:cNvPr id="46" name="Text 44"/>
          <p:cNvSpPr/>
          <p:nvPr/>
        </p:nvSpPr>
        <p:spPr>
          <a:xfrm>
            <a:off x="6812280" y="4233672"/>
            <a:ext cx="1280160" cy="301752"/>
          </a:xfrm>
          <a:prstGeom prst="rect">
            <a:avLst/>
          </a:prstGeom>
          <a:noFill/>
          <a:ln/>
        </p:spPr>
        <p:txBody>
          <a:bodyPr wrap="square" lIns="0" tIns="0" rIns="0" bIns="0" rtlCol="0" anchor="ctr"/>
          <a:lstStyle/>
          <a:p>
            <a:pPr marL="0" indent="0" algn="ctr">
              <a:buNone/>
            </a:pPr>
            <a:r>
              <a:rPr lang="en-US" sz="900" dirty="0">
                <a:solidFill>
                  <a:srgbClr val="DC2626"/>
                </a:solidFill>
                <a:latin typeface="Arial" pitchFamily="34" charset="0"/>
                <a:ea typeface="Arial" pitchFamily="34" charset="-122"/>
                <a:cs typeface="Arial" pitchFamily="34" charset="-120"/>
              </a:rPr>
              <a:t>−67 ✗</a:t>
            </a:r>
            <a:endParaRPr lang="en-US" sz="900" dirty="0"/>
          </a:p>
        </p:txBody>
      </p:sp>
      <p:sp>
        <p:nvSpPr>
          <p:cNvPr id="47" name="Shape 45"/>
          <p:cNvSpPr/>
          <p:nvPr/>
        </p:nvSpPr>
        <p:spPr>
          <a:xfrm>
            <a:off x="411480" y="4553712"/>
            <a:ext cx="2560320" cy="301752"/>
          </a:xfrm>
          <a:prstGeom prst="rect">
            <a:avLst/>
          </a:prstGeom>
          <a:solidFill>
            <a:srgbClr val="FFFFFF"/>
          </a:solidFill>
          <a:ln w="12700">
            <a:solidFill>
              <a:srgbClr val="E2E8F0"/>
            </a:solidFill>
            <a:prstDash val="solid"/>
          </a:ln>
        </p:spPr>
      </p:sp>
      <p:sp>
        <p:nvSpPr>
          <p:cNvPr id="48" name="Text 46"/>
          <p:cNvSpPr/>
          <p:nvPr/>
        </p:nvSpPr>
        <p:spPr>
          <a:xfrm>
            <a:off x="411480" y="4553712"/>
            <a:ext cx="2560320" cy="301752"/>
          </a:xfrm>
          <a:prstGeom prst="rect">
            <a:avLst/>
          </a:prstGeom>
          <a:noFill/>
          <a:ln/>
        </p:spPr>
        <p:txBody>
          <a:bodyPr wrap="square" lIns="76200" tIns="76200" rIns="76200" bIns="76200" rtlCol="0" anchor="ctr"/>
          <a:lstStyle/>
          <a:p>
            <a:pPr marL="0" indent="0" algn="l">
              <a:buNone/>
            </a:pPr>
            <a:r>
              <a:rPr lang="en-US" sz="900" dirty="0">
                <a:solidFill>
                  <a:srgbClr val="1B3A6B"/>
                </a:solidFill>
                <a:latin typeface="Arial" pitchFamily="34" charset="0"/>
                <a:ea typeface="Arial" pitchFamily="34" charset="-122"/>
                <a:cs typeface="Arial" pitchFamily="34" charset="-120"/>
              </a:rPr>
              <a:t>T2 10⁻⁵ (manual: 150)</a:t>
            </a:r>
            <a:endParaRPr lang="en-US" sz="900" dirty="0"/>
          </a:p>
        </p:txBody>
      </p:sp>
      <p:sp>
        <p:nvSpPr>
          <p:cNvPr id="49" name="Shape 47"/>
          <p:cNvSpPr/>
          <p:nvPr/>
        </p:nvSpPr>
        <p:spPr>
          <a:xfrm>
            <a:off x="2971800" y="4553712"/>
            <a:ext cx="1280160" cy="301752"/>
          </a:xfrm>
          <a:prstGeom prst="rect">
            <a:avLst/>
          </a:prstGeom>
          <a:solidFill>
            <a:srgbClr val="FFFFFF"/>
          </a:solidFill>
          <a:ln w="12700">
            <a:solidFill>
              <a:srgbClr val="E2E8F0"/>
            </a:solidFill>
            <a:prstDash val="solid"/>
          </a:ln>
        </p:spPr>
      </p:sp>
      <p:sp>
        <p:nvSpPr>
          <p:cNvPr id="50" name="Text 48"/>
          <p:cNvSpPr/>
          <p:nvPr/>
        </p:nvSpPr>
        <p:spPr>
          <a:xfrm>
            <a:off x="2971800" y="455371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123</a:t>
            </a:r>
            <a:endParaRPr lang="en-US" sz="900" dirty="0"/>
          </a:p>
        </p:txBody>
      </p:sp>
      <p:sp>
        <p:nvSpPr>
          <p:cNvPr id="51" name="Shape 49"/>
          <p:cNvSpPr/>
          <p:nvPr/>
        </p:nvSpPr>
        <p:spPr>
          <a:xfrm>
            <a:off x="4251960" y="4553712"/>
            <a:ext cx="1280160" cy="301752"/>
          </a:xfrm>
          <a:prstGeom prst="rect">
            <a:avLst/>
          </a:prstGeom>
          <a:solidFill>
            <a:srgbClr val="FFFFFF"/>
          </a:solidFill>
          <a:ln w="12700">
            <a:solidFill>
              <a:srgbClr val="E2E8F0"/>
            </a:solidFill>
            <a:prstDash val="solid"/>
          </a:ln>
        </p:spPr>
      </p:sp>
      <p:sp>
        <p:nvSpPr>
          <p:cNvPr id="52" name="Text 50"/>
          <p:cNvSpPr/>
          <p:nvPr/>
        </p:nvSpPr>
        <p:spPr>
          <a:xfrm>
            <a:off x="4251960" y="455371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−2</a:t>
            </a:r>
            <a:endParaRPr lang="en-US" sz="900" dirty="0"/>
          </a:p>
        </p:txBody>
      </p:sp>
      <p:sp>
        <p:nvSpPr>
          <p:cNvPr id="53" name="Shape 51"/>
          <p:cNvSpPr/>
          <p:nvPr/>
        </p:nvSpPr>
        <p:spPr>
          <a:xfrm>
            <a:off x="5532120" y="4553712"/>
            <a:ext cx="1280160" cy="301752"/>
          </a:xfrm>
          <a:prstGeom prst="rect">
            <a:avLst/>
          </a:prstGeom>
          <a:solidFill>
            <a:srgbClr val="FFFFFF"/>
          </a:solidFill>
          <a:ln w="12700">
            <a:solidFill>
              <a:srgbClr val="E2E8F0"/>
            </a:solidFill>
            <a:prstDash val="solid"/>
          </a:ln>
        </p:spPr>
      </p:sp>
      <p:sp>
        <p:nvSpPr>
          <p:cNvPr id="54" name="Text 52"/>
          <p:cNvSpPr/>
          <p:nvPr/>
        </p:nvSpPr>
        <p:spPr>
          <a:xfrm>
            <a:off x="5532120" y="455371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−4</a:t>
            </a:r>
            <a:endParaRPr lang="en-US" sz="900" dirty="0"/>
          </a:p>
        </p:txBody>
      </p:sp>
      <p:sp>
        <p:nvSpPr>
          <p:cNvPr id="55" name="Shape 53"/>
          <p:cNvSpPr/>
          <p:nvPr/>
        </p:nvSpPr>
        <p:spPr>
          <a:xfrm>
            <a:off x="6812280" y="4553712"/>
            <a:ext cx="1280160" cy="301752"/>
          </a:xfrm>
          <a:prstGeom prst="rect">
            <a:avLst/>
          </a:prstGeom>
          <a:solidFill>
            <a:srgbClr val="FFFFFF"/>
          </a:solidFill>
          <a:ln w="12700">
            <a:solidFill>
              <a:srgbClr val="E2E8F0"/>
            </a:solidFill>
            <a:prstDash val="solid"/>
          </a:ln>
        </p:spPr>
      </p:sp>
      <p:sp>
        <p:nvSpPr>
          <p:cNvPr id="56" name="Text 54"/>
          <p:cNvSpPr/>
          <p:nvPr/>
        </p:nvSpPr>
        <p:spPr>
          <a:xfrm>
            <a:off x="6812280" y="4553712"/>
            <a:ext cx="1280160" cy="301752"/>
          </a:xfrm>
          <a:prstGeom prst="rect">
            <a:avLst/>
          </a:prstGeom>
          <a:noFill/>
          <a:ln/>
        </p:spPr>
        <p:txBody>
          <a:bodyPr wrap="square" lIns="0" tIns="0" rIns="0" bIns="0" rtlCol="0" anchor="ctr"/>
          <a:lstStyle/>
          <a:p>
            <a:pPr marL="0" indent="0" algn="ctr">
              <a:buNone/>
            </a:pPr>
            <a:r>
              <a:rPr lang="en-US" sz="900" dirty="0">
                <a:solidFill>
                  <a:srgbClr val="DC2626"/>
                </a:solidFill>
                <a:latin typeface="Arial" pitchFamily="34" charset="0"/>
                <a:ea typeface="Arial" pitchFamily="34" charset="-122"/>
                <a:cs typeface="Arial" pitchFamily="34" charset="-120"/>
              </a:rPr>
              <a:t>−122 ✗</a:t>
            </a:r>
            <a:endParaRPr lang="en-US" sz="900" dirty="0"/>
          </a:p>
        </p:txBody>
      </p:sp>
      <p:sp>
        <p:nvSpPr>
          <p:cNvPr id="57" name="Shape 55"/>
          <p:cNvSpPr/>
          <p:nvPr/>
        </p:nvSpPr>
        <p:spPr>
          <a:xfrm>
            <a:off x="411480" y="4873752"/>
            <a:ext cx="2560320" cy="301752"/>
          </a:xfrm>
          <a:prstGeom prst="rect">
            <a:avLst/>
          </a:prstGeom>
          <a:solidFill>
            <a:srgbClr val="E8F4F8"/>
          </a:solidFill>
          <a:ln w="12700">
            <a:solidFill>
              <a:srgbClr val="E2E8F0"/>
            </a:solidFill>
            <a:prstDash val="solid"/>
          </a:ln>
        </p:spPr>
      </p:sp>
      <p:sp>
        <p:nvSpPr>
          <p:cNvPr id="58" name="Text 56"/>
          <p:cNvSpPr/>
          <p:nvPr/>
        </p:nvSpPr>
        <p:spPr>
          <a:xfrm>
            <a:off x="411480" y="4873752"/>
            <a:ext cx="2560320" cy="301752"/>
          </a:xfrm>
          <a:prstGeom prst="rect">
            <a:avLst/>
          </a:prstGeom>
          <a:noFill/>
          <a:ln/>
        </p:spPr>
        <p:txBody>
          <a:bodyPr wrap="square" lIns="76200" tIns="76200" rIns="76200" bIns="76200" rtlCol="0" anchor="ctr"/>
          <a:lstStyle/>
          <a:p>
            <a:pPr marL="0" indent="0" algn="l">
              <a:buNone/>
            </a:pPr>
            <a:r>
              <a:rPr lang="en-US" sz="900" dirty="0">
                <a:solidFill>
                  <a:srgbClr val="1B3A6B"/>
                </a:solidFill>
                <a:latin typeface="Arial" pitchFamily="34" charset="0"/>
                <a:ea typeface="Arial" pitchFamily="34" charset="-122"/>
                <a:cs typeface="Arial" pitchFamily="34" charset="-120"/>
              </a:rPr>
              <a:t>T1 10⁻⁸ (manual: 19)</a:t>
            </a:r>
            <a:endParaRPr lang="en-US" sz="900" dirty="0"/>
          </a:p>
        </p:txBody>
      </p:sp>
      <p:sp>
        <p:nvSpPr>
          <p:cNvPr id="59" name="Shape 57"/>
          <p:cNvSpPr/>
          <p:nvPr/>
        </p:nvSpPr>
        <p:spPr>
          <a:xfrm>
            <a:off x="2971800" y="4873752"/>
            <a:ext cx="1280160" cy="301752"/>
          </a:xfrm>
          <a:prstGeom prst="rect">
            <a:avLst/>
          </a:prstGeom>
          <a:solidFill>
            <a:srgbClr val="E8F4F8"/>
          </a:solidFill>
          <a:ln w="12700">
            <a:solidFill>
              <a:srgbClr val="E2E8F0"/>
            </a:solidFill>
            <a:prstDash val="solid"/>
          </a:ln>
        </p:spPr>
      </p:sp>
      <p:sp>
        <p:nvSpPr>
          <p:cNvPr id="60" name="Text 58"/>
          <p:cNvSpPr/>
          <p:nvPr/>
        </p:nvSpPr>
        <p:spPr>
          <a:xfrm>
            <a:off x="2971800" y="487375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28</a:t>
            </a:r>
            <a:endParaRPr lang="en-US" sz="900" dirty="0"/>
          </a:p>
        </p:txBody>
      </p:sp>
      <p:sp>
        <p:nvSpPr>
          <p:cNvPr id="61" name="Shape 59"/>
          <p:cNvSpPr/>
          <p:nvPr/>
        </p:nvSpPr>
        <p:spPr>
          <a:xfrm>
            <a:off x="4251960" y="4873752"/>
            <a:ext cx="1280160" cy="301752"/>
          </a:xfrm>
          <a:prstGeom prst="rect">
            <a:avLst/>
          </a:prstGeom>
          <a:solidFill>
            <a:srgbClr val="E8F4F8"/>
          </a:solidFill>
          <a:ln w="12700">
            <a:solidFill>
              <a:srgbClr val="E2E8F0"/>
            </a:solidFill>
            <a:prstDash val="solid"/>
          </a:ln>
        </p:spPr>
      </p:sp>
      <p:sp>
        <p:nvSpPr>
          <p:cNvPr id="62" name="Text 60"/>
          <p:cNvSpPr/>
          <p:nvPr/>
        </p:nvSpPr>
        <p:spPr>
          <a:xfrm>
            <a:off x="4251960" y="487375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−4</a:t>
            </a:r>
            <a:endParaRPr lang="en-US" sz="900" dirty="0"/>
          </a:p>
        </p:txBody>
      </p:sp>
      <p:sp>
        <p:nvSpPr>
          <p:cNvPr id="63" name="Shape 61"/>
          <p:cNvSpPr/>
          <p:nvPr/>
        </p:nvSpPr>
        <p:spPr>
          <a:xfrm>
            <a:off x="5532120" y="4873752"/>
            <a:ext cx="1280160" cy="301752"/>
          </a:xfrm>
          <a:prstGeom prst="rect">
            <a:avLst/>
          </a:prstGeom>
          <a:solidFill>
            <a:srgbClr val="E8F4F8"/>
          </a:solidFill>
          <a:ln w="12700">
            <a:solidFill>
              <a:srgbClr val="E2E8F0"/>
            </a:solidFill>
            <a:prstDash val="solid"/>
          </a:ln>
        </p:spPr>
      </p:sp>
      <p:sp>
        <p:nvSpPr>
          <p:cNvPr id="64" name="Text 62"/>
          <p:cNvSpPr/>
          <p:nvPr/>
        </p:nvSpPr>
        <p:spPr>
          <a:xfrm>
            <a:off x="5532120" y="4873752"/>
            <a:ext cx="1280160" cy="301752"/>
          </a:xfrm>
          <a:prstGeom prst="rect">
            <a:avLst/>
          </a:prstGeom>
          <a:noFill/>
          <a:ln/>
        </p:spPr>
        <p:txBody>
          <a:bodyPr wrap="square" lIns="0" tIns="0" rIns="0" bIns="0" rtlCol="0" anchor="ctr"/>
          <a:lstStyle/>
          <a:p>
            <a:pPr marL="0" indent="0" algn="ctr">
              <a:buNone/>
            </a:pPr>
            <a:r>
              <a:rPr lang="en-US" sz="900" dirty="0">
                <a:solidFill>
                  <a:srgbClr val="1B3A6B"/>
                </a:solidFill>
                <a:latin typeface="Arial" pitchFamily="34" charset="0"/>
                <a:ea typeface="Arial" pitchFamily="34" charset="-122"/>
                <a:cs typeface="Arial" pitchFamily="34" charset="-120"/>
              </a:rPr>
              <a:t>+2</a:t>
            </a:r>
            <a:endParaRPr lang="en-US" sz="900" dirty="0"/>
          </a:p>
        </p:txBody>
      </p:sp>
      <p:sp>
        <p:nvSpPr>
          <p:cNvPr id="65" name="Shape 63"/>
          <p:cNvSpPr/>
          <p:nvPr/>
        </p:nvSpPr>
        <p:spPr>
          <a:xfrm>
            <a:off x="6812280" y="4873752"/>
            <a:ext cx="1280160" cy="301752"/>
          </a:xfrm>
          <a:prstGeom prst="rect">
            <a:avLst/>
          </a:prstGeom>
          <a:solidFill>
            <a:srgbClr val="E8F4F8"/>
          </a:solidFill>
          <a:ln w="12700">
            <a:solidFill>
              <a:srgbClr val="E2E8F0"/>
            </a:solidFill>
            <a:prstDash val="solid"/>
          </a:ln>
        </p:spPr>
      </p:sp>
      <p:sp>
        <p:nvSpPr>
          <p:cNvPr id="66" name="Text 64"/>
          <p:cNvSpPr/>
          <p:nvPr/>
        </p:nvSpPr>
        <p:spPr>
          <a:xfrm>
            <a:off x="6812280" y="4873752"/>
            <a:ext cx="1280160" cy="301752"/>
          </a:xfrm>
          <a:prstGeom prst="rect">
            <a:avLst/>
          </a:prstGeom>
          <a:noFill/>
          <a:ln/>
        </p:spPr>
        <p:txBody>
          <a:bodyPr wrap="square" lIns="0" tIns="0" rIns="0" bIns="0" rtlCol="0" anchor="ctr"/>
          <a:lstStyle/>
          <a:p>
            <a:pPr marL="0" indent="0" algn="ctr">
              <a:buNone/>
            </a:pPr>
            <a:r>
              <a:rPr lang="en-US" sz="900" dirty="0">
                <a:solidFill>
                  <a:srgbClr val="DC2626"/>
                </a:solidFill>
                <a:latin typeface="Arial" pitchFamily="34" charset="0"/>
                <a:ea typeface="Arial" pitchFamily="34" charset="-122"/>
                <a:cs typeface="Arial" pitchFamily="34" charset="-120"/>
              </a:rPr>
              <a:t>−28 ✗</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6858000" y="-457200"/>
            <a:ext cx="2743200" cy="2743200"/>
          </a:xfrm>
          <a:prstGeom prst="ellipse">
            <a:avLst/>
          </a:prstGeom>
          <a:solidFill>
            <a:srgbClr val="028090">
              <a:alpha val="15000"/>
            </a:srgbClr>
          </a:solidFill>
          <a:ln w="12700">
            <a:solidFill>
              <a:srgbClr val="028090">
                <a:alpha val="15000"/>
              </a:srgbClr>
            </a:solidFill>
            <a:prstDash val="solid"/>
          </a:ln>
        </p:spPr>
      </p:sp>
      <p:sp>
        <p:nvSpPr>
          <p:cNvPr id="4" name="Shape 2"/>
          <p:cNvSpPr/>
          <p:nvPr/>
        </p:nvSpPr>
        <p:spPr>
          <a:xfrm>
            <a:off x="411480" y="256032"/>
            <a:ext cx="2011680" cy="292608"/>
          </a:xfrm>
          <a:prstGeom prst="roundRect">
            <a:avLst>
              <a:gd name="adj" fmla="val 25000"/>
            </a:avLst>
          </a:prstGeom>
          <a:solidFill>
            <a:srgbClr val="028090"/>
          </a:solidFill>
          <a:ln w="12700">
            <a:solidFill>
              <a:srgbClr val="028090"/>
            </a:solidFill>
            <a:prstDash val="solid"/>
          </a:ln>
        </p:spPr>
      </p:sp>
      <p:sp>
        <p:nvSpPr>
          <p:cNvPr id="5" name="Text 3"/>
          <p:cNvSpPr/>
          <p:nvPr/>
        </p:nvSpPr>
        <p:spPr>
          <a:xfrm>
            <a:off x="411480" y="256032"/>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LIVE DEMO</a:t>
            </a:r>
            <a:endParaRPr lang="en-US" sz="900" dirty="0"/>
          </a:p>
        </p:txBody>
      </p:sp>
      <p:sp>
        <p:nvSpPr>
          <p:cNvPr id="6" name="Text 4"/>
          <p:cNvSpPr/>
          <p:nvPr/>
        </p:nvSpPr>
        <p:spPr>
          <a:xfrm>
            <a:off x="411480" y="594360"/>
            <a:ext cx="8321040" cy="45720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Streamlit Application — Demo Walkthrough</a:t>
            </a:r>
            <a:endParaRPr lang="en-US" sz="2600" dirty="0"/>
          </a:p>
        </p:txBody>
      </p:sp>
      <p:sp>
        <p:nvSpPr>
          <p:cNvPr id="7" name="Shape 5"/>
          <p:cNvSpPr/>
          <p:nvPr/>
        </p:nvSpPr>
        <p:spPr>
          <a:xfrm>
            <a:off x="411480" y="1234440"/>
            <a:ext cx="4023360" cy="1005840"/>
          </a:xfrm>
          <a:prstGeom prst="roundRect">
            <a:avLst>
              <a:gd name="adj" fmla="val 9091"/>
            </a:avLst>
          </a:prstGeom>
          <a:solidFill>
            <a:srgbClr val="FFFFFF">
              <a:alpha val="92000"/>
            </a:srgbClr>
          </a:solidFill>
          <a:ln w="12700">
            <a:solidFill>
              <a:srgbClr val="FFFFFF">
                <a:alpha val="30000"/>
              </a:srgbClr>
            </a:solidFill>
            <a:prstDash val="solid"/>
          </a:ln>
        </p:spPr>
      </p:sp>
      <p:sp>
        <p:nvSpPr>
          <p:cNvPr id="8" name="Shape 6"/>
          <p:cNvSpPr/>
          <p:nvPr/>
        </p:nvSpPr>
        <p:spPr>
          <a:xfrm>
            <a:off x="521208" y="1435608"/>
            <a:ext cx="502920" cy="502920"/>
          </a:xfrm>
          <a:prstGeom prst="ellipse">
            <a:avLst/>
          </a:prstGeom>
          <a:solidFill>
            <a:srgbClr val="028090"/>
          </a:solidFill>
          <a:ln w="12700">
            <a:solidFill>
              <a:srgbClr val="028090"/>
            </a:solidFill>
            <a:prstDash val="solid"/>
          </a:ln>
        </p:spPr>
      </p:sp>
      <p:sp>
        <p:nvSpPr>
          <p:cNvPr id="9" name="Text 7"/>
          <p:cNvSpPr/>
          <p:nvPr/>
        </p:nvSpPr>
        <p:spPr>
          <a:xfrm>
            <a:off x="521208" y="1435608"/>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0" name="Text 8"/>
          <p:cNvSpPr/>
          <p:nvPr/>
        </p:nvSpPr>
        <p:spPr>
          <a:xfrm>
            <a:off x="1124712" y="1325880"/>
            <a:ext cx="32004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Upload Plate Image</a:t>
            </a:r>
            <a:endParaRPr lang="en-US" sz="1200" dirty="0"/>
          </a:p>
        </p:txBody>
      </p:sp>
      <p:sp>
        <p:nvSpPr>
          <p:cNvPr id="11" name="Text 9"/>
          <p:cNvSpPr/>
          <p:nvPr/>
        </p:nvSpPr>
        <p:spPr>
          <a:xfrm>
            <a:off x="1124712" y="1636776"/>
            <a:ext cx="3200400" cy="475488"/>
          </a:xfrm>
          <a:prstGeom prst="rect">
            <a:avLst/>
          </a:prstGeom>
          <a:noFill/>
          <a:ln/>
        </p:spPr>
        <p:txBody>
          <a:bodyPr wrap="square" rtlCol="0" anchor="ctr"/>
          <a:lstStyle/>
          <a:p>
            <a:pPr marL="0" indent="0">
              <a:buNone/>
            </a:pPr>
            <a:r>
              <a:rPr lang="en-US" sz="950" dirty="0">
                <a:solidFill>
                  <a:srgbClr val="A8D8E8"/>
                </a:solidFill>
                <a:latin typeface="Arial" pitchFamily="34" charset="0"/>
                <a:ea typeface="Arial" pitchFamily="34" charset="-122"/>
                <a:cs typeface="Arial" pitchFamily="34" charset="-120"/>
              </a:rPr>
              <a:t>Single JPG or ZIP of 100+ images — browser or large-ZIP path</a:t>
            </a:r>
            <a:endParaRPr lang="en-US" sz="950" dirty="0"/>
          </a:p>
        </p:txBody>
      </p:sp>
      <p:sp>
        <p:nvSpPr>
          <p:cNvPr id="12" name="Shape 10"/>
          <p:cNvSpPr/>
          <p:nvPr/>
        </p:nvSpPr>
        <p:spPr>
          <a:xfrm>
            <a:off x="4709160" y="1234440"/>
            <a:ext cx="4023360" cy="1005840"/>
          </a:xfrm>
          <a:prstGeom prst="roundRect">
            <a:avLst>
              <a:gd name="adj" fmla="val 9091"/>
            </a:avLst>
          </a:prstGeom>
          <a:solidFill>
            <a:srgbClr val="FFFFFF">
              <a:alpha val="92000"/>
            </a:srgbClr>
          </a:solidFill>
          <a:ln w="12700">
            <a:solidFill>
              <a:srgbClr val="FFFFFF">
                <a:alpha val="30000"/>
              </a:srgbClr>
            </a:solidFill>
            <a:prstDash val="solid"/>
          </a:ln>
        </p:spPr>
      </p:sp>
      <p:sp>
        <p:nvSpPr>
          <p:cNvPr id="13" name="Shape 11"/>
          <p:cNvSpPr/>
          <p:nvPr/>
        </p:nvSpPr>
        <p:spPr>
          <a:xfrm>
            <a:off x="4818888" y="1435608"/>
            <a:ext cx="502920" cy="502920"/>
          </a:xfrm>
          <a:prstGeom prst="ellipse">
            <a:avLst/>
          </a:prstGeom>
          <a:solidFill>
            <a:srgbClr val="028090"/>
          </a:solidFill>
          <a:ln w="12700">
            <a:solidFill>
              <a:srgbClr val="028090"/>
            </a:solidFill>
            <a:prstDash val="solid"/>
          </a:ln>
        </p:spPr>
      </p:sp>
      <p:sp>
        <p:nvSpPr>
          <p:cNvPr id="14" name="Text 12"/>
          <p:cNvSpPr/>
          <p:nvPr/>
        </p:nvSpPr>
        <p:spPr>
          <a:xfrm>
            <a:off x="4818888" y="1435608"/>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5" name="Text 13"/>
          <p:cNvSpPr/>
          <p:nvPr/>
        </p:nvSpPr>
        <p:spPr>
          <a:xfrm>
            <a:off x="5422392" y="1325880"/>
            <a:ext cx="32004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Select CV Method</a:t>
            </a:r>
            <a:endParaRPr lang="en-US" sz="1200" dirty="0"/>
          </a:p>
        </p:txBody>
      </p:sp>
      <p:sp>
        <p:nvSpPr>
          <p:cNvPr id="16" name="Text 14"/>
          <p:cNvSpPr/>
          <p:nvPr/>
        </p:nvSpPr>
        <p:spPr>
          <a:xfrm>
            <a:off x="5422392" y="1636776"/>
            <a:ext cx="3200400" cy="475488"/>
          </a:xfrm>
          <a:prstGeom prst="rect">
            <a:avLst/>
          </a:prstGeom>
          <a:noFill/>
          <a:ln/>
        </p:spPr>
        <p:txBody>
          <a:bodyPr wrap="square" rtlCol="0" anchor="ctr"/>
          <a:lstStyle/>
          <a:p>
            <a:pPr marL="0" indent="0">
              <a:buNone/>
            </a:pPr>
            <a:r>
              <a:rPr lang="en-US" sz="950" dirty="0">
                <a:solidFill>
                  <a:srgbClr val="A8D8E8"/>
                </a:solidFill>
                <a:latin typeface="Arial" pitchFamily="34" charset="0"/>
                <a:ea typeface="Arial" pitchFamily="34" charset="-122"/>
                <a:cs typeface="Arial" pitchFamily="34" charset="-120"/>
              </a:rPr>
              <a:t>Consensus (recommended) or individual method for comparison</a:t>
            </a:r>
            <a:endParaRPr lang="en-US" sz="950" dirty="0"/>
          </a:p>
        </p:txBody>
      </p:sp>
      <p:sp>
        <p:nvSpPr>
          <p:cNvPr id="17" name="Shape 15"/>
          <p:cNvSpPr/>
          <p:nvPr/>
        </p:nvSpPr>
        <p:spPr>
          <a:xfrm>
            <a:off x="411480" y="2404872"/>
            <a:ext cx="4023360" cy="1005840"/>
          </a:xfrm>
          <a:prstGeom prst="roundRect">
            <a:avLst>
              <a:gd name="adj" fmla="val 9091"/>
            </a:avLst>
          </a:prstGeom>
          <a:solidFill>
            <a:srgbClr val="FFFFFF">
              <a:alpha val="92000"/>
            </a:srgbClr>
          </a:solidFill>
          <a:ln w="12700">
            <a:solidFill>
              <a:srgbClr val="FFFFFF">
                <a:alpha val="30000"/>
              </a:srgbClr>
            </a:solidFill>
            <a:prstDash val="solid"/>
          </a:ln>
        </p:spPr>
      </p:sp>
      <p:sp>
        <p:nvSpPr>
          <p:cNvPr id="18" name="Shape 16"/>
          <p:cNvSpPr/>
          <p:nvPr/>
        </p:nvSpPr>
        <p:spPr>
          <a:xfrm>
            <a:off x="521208" y="2606040"/>
            <a:ext cx="502920" cy="502920"/>
          </a:xfrm>
          <a:prstGeom prst="ellipse">
            <a:avLst/>
          </a:prstGeom>
          <a:solidFill>
            <a:srgbClr val="028090"/>
          </a:solidFill>
          <a:ln w="12700">
            <a:solidFill>
              <a:srgbClr val="028090"/>
            </a:solidFill>
            <a:prstDash val="solid"/>
          </a:ln>
        </p:spPr>
      </p:sp>
      <p:sp>
        <p:nvSpPr>
          <p:cNvPr id="19" name="Text 17"/>
          <p:cNvSpPr/>
          <p:nvPr/>
        </p:nvSpPr>
        <p:spPr>
          <a:xfrm>
            <a:off x="521208" y="26060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20" name="Text 18"/>
          <p:cNvSpPr/>
          <p:nvPr/>
        </p:nvSpPr>
        <p:spPr>
          <a:xfrm>
            <a:off x="1124712" y="2496312"/>
            <a:ext cx="32004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Tune Parameters</a:t>
            </a:r>
            <a:endParaRPr lang="en-US" sz="1200" dirty="0"/>
          </a:p>
        </p:txBody>
      </p:sp>
      <p:sp>
        <p:nvSpPr>
          <p:cNvPr id="21" name="Text 19"/>
          <p:cNvSpPr/>
          <p:nvPr/>
        </p:nvSpPr>
        <p:spPr>
          <a:xfrm>
            <a:off x="1124712" y="2807208"/>
            <a:ext cx="3200400" cy="475488"/>
          </a:xfrm>
          <a:prstGeom prst="rect">
            <a:avLst/>
          </a:prstGeom>
          <a:noFill/>
          <a:ln/>
        </p:spPr>
        <p:txBody>
          <a:bodyPr wrap="square" rtlCol="0" anchor="ctr"/>
          <a:lstStyle/>
          <a:p>
            <a:pPr marL="0" indent="0">
              <a:buNone/>
            </a:pPr>
            <a:r>
              <a:rPr lang="en-US" sz="950" dirty="0">
                <a:solidFill>
                  <a:srgbClr val="A8D8E8"/>
                </a:solidFill>
                <a:latin typeface="Arial" pitchFamily="34" charset="0"/>
                <a:ea typeface="Arial" pitchFamily="34" charset="-122"/>
                <a:cs typeface="Arial" pitchFamily="34" charset="-120"/>
              </a:rPr>
              <a:t>Adjust thresholding, area range, circularity, marker distance</a:t>
            </a:r>
            <a:endParaRPr lang="en-US" sz="950" dirty="0"/>
          </a:p>
        </p:txBody>
      </p:sp>
      <p:sp>
        <p:nvSpPr>
          <p:cNvPr id="22" name="Shape 20"/>
          <p:cNvSpPr/>
          <p:nvPr/>
        </p:nvSpPr>
        <p:spPr>
          <a:xfrm>
            <a:off x="4709160" y="2404872"/>
            <a:ext cx="4023360" cy="1005840"/>
          </a:xfrm>
          <a:prstGeom prst="roundRect">
            <a:avLst>
              <a:gd name="adj" fmla="val 9091"/>
            </a:avLst>
          </a:prstGeom>
          <a:solidFill>
            <a:srgbClr val="FFFFFF">
              <a:alpha val="92000"/>
            </a:srgbClr>
          </a:solidFill>
          <a:ln w="12700">
            <a:solidFill>
              <a:srgbClr val="FFFFFF">
                <a:alpha val="30000"/>
              </a:srgbClr>
            </a:solidFill>
            <a:prstDash val="solid"/>
          </a:ln>
        </p:spPr>
      </p:sp>
      <p:sp>
        <p:nvSpPr>
          <p:cNvPr id="23" name="Shape 21"/>
          <p:cNvSpPr/>
          <p:nvPr/>
        </p:nvSpPr>
        <p:spPr>
          <a:xfrm>
            <a:off x="4818888" y="2606040"/>
            <a:ext cx="502920" cy="502920"/>
          </a:xfrm>
          <a:prstGeom prst="ellipse">
            <a:avLst/>
          </a:prstGeom>
          <a:solidFill>
            <a:srgbClr val="028090"/>
          </a:solidFill>
          <a:ln w="12700">
            <a:solidFill>
              <a:srgbClr val="028090"/>
            </a:solidFill>
            <a:prstDash val="solid"/>
          </a:ln>
        </p:spPr>
      </p:sp>
      <p:sp>
        <p:nvSpPr>
          <p:cNvPr id="24" name="Text 22"/>
          <p:cNvSpPr/>
          <p:nvPr/>
        </p:nvSpPr>
        <p:spPr>
          <a:xfrm>
            <a:off x="4818888" y="26060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5" name="Text 23"/>
          <p:cNvSpPr/>
          <p:nvPr/>
        </p:nvSpPr>
        <p:spPr>
          <a:xfrm>
            <a:off x="5422392" y="2496312"/>
            <a:ext cx="32004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Preview Single Plate</a:t>
            </a:r>
            <a:endParaRPr lang="en-US" sz="1200" dirty="0"/>
          </a:p>
        </p:txBody>
      </p:sp>
      <p:sp>
        <p:nvSpPr>
          <p:cNvPr id="26" name="Text 24"/>
          <p:cNvSpPr/>
          <p:nvPr/>
        </p:nvSpPr>
        <p:spPr>
          <a:xfrm>
            <a:off x="5422392" y="2807208"/>
            <a:ext cx="3200400" cy="475488"/>
          </a:xfrm>
          <a:prstGeom prst="rect">
            <a:avLst/>
          </a:prstGeom>
          <a:noFill/>
          <a:ln/>
        </p:spPr>
        <p:txBody>
          <a:bodyPr wrap="square" rtlCol="0" anchor="ctr"/>
          <a:lstStyle/>
          <a:p>
            <a:pPr marL="0" indent="0">
              <a:buNone/>
            </a:pPr>
            <a:r>
              <a:rPr lang="en-US" sz="950" dirty="0">
                <a:solidFill>
                  <a:srgbClr val="A8D8E8"/>
                </a:solidFill>
                <a:latin typeface="Arial" pitchFamily="34" charset="0"/>
                <a:ea typeface="Arial" pitchFamily="34" charset="-122"/>
                <a:cs typeface="Arial" pitchFamily="34" charset="-120"/>
              </a:rPr>
              <a:t>See original → mask → binary → overlay with count</a:t>
            </a:r>
            <a:endParaRPr lang="en-US" sz="950" dirty="0"/>
          </a:p>
        </p:txBody>
      </p:sp>
      <p:sp>
        <p:nvSpPr>
          <p:cNvPr id="27" name="Shape 25"/>
          <p:cNvSpPr/>
          <p:nvPr/>
        </p:nvSpPr>
        <p:spPr>
          <a:xfrm>
            <a:off x="411480" y="3575304"/>
            <a:ext cx="4023360" cy="1005840"/>
          </a:xfrm>
          <a:prstGeom prst="roundRect">
            <a:avLst>
              <a:gd name="adj" fmla="val 9091"/>
            </a:avLst>
          </a:prstGeom>
          <a:solidFill>
            <a:srgbClr val="FFFFFF">
              <a:alpha val="92000"/>
            </a:srgbClr>
          </a:solidFill>
          <a:ln w="12700">
            <a:solidFill>
              <a:srgbClr val="FFFFFF">
                <a:alpha val="30000"/>
              </a:srgbClr>
            </a:solidFill>
            <a:prstDash val="solid"/>
          </a:ln>
        </p:spPr>
      </p:sp>
      <p:sp>
        <p:nvSpPr>
          <p:cNvPr id="28" name="Shape 26"/>
          <p:cNvSpPr/>
          <p:nvPr/>
        </p:nvSpPr>
        <p:spPr>
          <a:xfrm>
            <a:off x="521208" y="3776472"/>
            <a:ext cx="502920" cy="502920"/>
          </a:xfrm>
          <a:prstGeom prst="ellipse">
            <a:avLst/>
          </a:prstGeom>
          <a:solidFill>
            <a:srgbClr val="028090"/>
          </a:solidFill>
          <a:ln w="12700">
            <a:solidFill>
              <a:srgbClr val="028090"/>
            </a:solidFill>
            <a:prstDash val="solid"/>
          </a:ln>
        </p:spPr>
      </p:sp>
      <p:sp>
        <p:nvSpPr>
          <p:cNvPr id="29" name="Text 27"/>
          <p:cNvSpPr/>
          <p:nvPr/>
        </p:nvSpPr>
        <p:spPr>
          <a:xfrm>
            <a:off x="521208" y="3776472"/>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05</a:t>
            </a:r>
            <a:endParaRPr lang="en-US" sz="1100" dirty="0"/>
          </a:p>
        </p:txBody>
      </p:sp>
      <p:sp>
        <p:nvSpPr>
          <p:cNvPr id="30" name="Text 28"/>
          <p:cNvSpPr/>
          <p:nvPr/>
        </p:nvSpPr>
        <p:spPr>
          <a:xfrm>
            <a:off x="1124712" y="3666744"/>
            <a:ext cx="32004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Process All &amp; Validate</a:t>
            </a:r>
            <a:endParaRPr lang="en-US" sz="1200" dirty="0"/>
          </a:p>
        </p:txBody>
      </p:sp>
      <p:sp>
        <p:nvSpPr>
          <p:cNvPr id="31" name="Text 29"/>
          <p:cNvSpPr/>
          <p:nvPr/>
        </p:nvSpPr>
        <p:spPr>
          <a:xfrm>
            <a:off x="1124712" y="3977640"/>
            <a:ext cx="3200400" cy="475488"/>
          </a:xfrm>
          <a:prstGeom prst="rect">
            <a:avLst/>
          </a:prstGeom>
          <a:noFill/>
          <a:ln/>
        </p:spPr>
        <p:txBody>
          <a:bodyPr wrap="square" rtlCol="0" anchor="ctr"/>
          <a:lstStyle/>
          <a:p>
            <a:pPr marL="0" indent="0">
              <a:buNone/>
            </a:pPr>
            <a:r>
              <a:rPr lang="en-US" sz="950" dirty="0">
                <a:solidFill>
                  <a:srgbClr val="A8D8E8"/>
                </a:solidFill>
                <a:latin typeface="Arial" pitchFamily="34" charset="0"/>
                <a:ea typeface="Arial" pitchFamily="34" charset="-122"/>
                <a:cs typeface="Arial" pitchFamily="34" charset="-120"/>
              </a:rPr>
              <a:t>Compare automatic vs manual counts; MAE / MAPE / R² dashboard</a:t>
            </a:r>
            <a:endParaRPr lang="en-US" sz="950" dirty="0"/>
          </a:p>
        </p:txBody>
      </p:sp>
      <p:sp>
        <p:nvSpPr>
          <p:cNvPr id="32" name="Shape 30"/>
          <p:cNvSpPr/>
          <p:nvPr/>
        </p:nvSpPr>
        <p:spPr>
          <a:xfrm>
            <a:off x="4709160" y="3575304"/>
            <a:ext cx="4023360" cy="1005840"/>
          </a:xfrm>
          <a:prstGeom prst="roundRect">
            <a:avLst>
              <a:gd name="adj" fmla="val 9091"/>
            </a:avLst>
          </a:prstGeom>
          <a:solidFill>
            <a:srgbClr val="FFFFFF">
              <a:alpha val="92000"/>
            </a:srgbClr>
          </a:solidFill>
          <a:ln w="12700">
            <a:solidFill>
              <a:srgbClr val="FFFFFF">
                <a:alpha val="30000"/>
              </a:srgbClr>
            </a:solidFill>
            <a:prstDash val="solid"/>
          </a:ln>
        </p:spPr>
      </p:sp>
      <p:sp>
        <p:nvSpPr>
          <p:cNvPr id="33" name="Shape 31"/>
          <p:cNvSpPr/>
          <p:nvPr/>
        </p:nvSpPr>
        <p:spPr>
          <a:xfrm>
            <a:off x="4818888" y="3776472"/>
            <a:ext cx="502920" cy="502920"/>
          </a:xfrm>
          <a:prstGeom prst="ellipse">
            <a:avLst/>
          </a:prstGeom>
          <a:solidFill>
            <a:srgbClr val="028090"/>
          </a:solidFill>
          <a:ln w="12700">
            <a:solidFill>
              <a:srgbClr val="028090"/>
            </a:solidFill>
            <a:prstDash val="solid"/>
          </a:ln>
        </p:spPr>
      </p:sp>
      <p:sp>
        <p:nvSpPr>
          <p:cNvPr id="34" name="Text 32"/>
          <p:cNvSpPr/>
          <p:nvPr/>
        </p:nvSpPr>
        <p:spPr>
          <a:xfrm>
            <a:off x="4818888" y="3776472"/>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06</a:t>
            </a:r>
            <a:endParaRPr lang="en-US" sz="1100" dirty="0"/>
          </a:p>
        </p:txBody>
      </p:sp>
      <p:sp>
        <p:nvSpPr>
          <p:cNvPr id="35" name="Text 33"/>
          <p:cNvSpPr/>
          <p:nvPr/>
        </p:nvSpPr>
        <p:spPr>
          <a:xfrm>
            <a:off x="5422392" y="3666744"/>
            <a:ext cx="3200400" cy="32004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Download Report</a:t>
            </a:r>
            <a:endParaRPr lang="en-US" sz="1200" dirty="0"/>
          </a:p>
        </p:txBody>
      </p:sp>
      <p:sp>
        <p:nvSpPr>
          <p:cNvPr id="36" name="Text 34"/>
          <p:cNvSpPr/>
          <p:nvPr/>
        </p:nvSpPr>
        <p:spPr>
          <a:xfrm>
            <a:off x="5422392" y="3977640"/>
            <a:ext cx="3200400" cy="475488"/>
          </a:xfrm>
          <a:prstGeom prst="rect">
            <a:avLst/>
          </a:prstGeom>
          <a:noFill/>
          <a:ln/>
        </p:spPr>
        <p:txBody>
          <a:bodyPr wrap="square" rtlCol="0" anchor="ctr"/>
          <a:lstStyle/>
          <a:p>
            <a:pPr marL="0" indent="0">
              <a:buNone/>
            </a:pPr>
            <a:r>
              <a:rPr lang="en-US" sz="950" dirty="0">
                <a:solidFill>
                  <a:srgbClr val="A8D8E8"/>
                </a:solidFill>
                <a:latin typeface="Arial" pitchFamily="34" charset="0"/>
                <a:ea typeface="Arial" pitchFamily="34" charset="-122"/>
                <a:cs typeface="Arial" pitchFamily="34" charset="-120"/>
              </a:rPr>
              <a:t>CSV agreement table + classification report + robustness table</a:t>
            </a:r>
            <a:endParaRPr lang="en-US" sz="950" dirty="0"/>
          </a:p>
        </p:txBody>
      </p:sp>
      <p:sp>
        <p:nvSpPr>
          <p:cNvPr id="37" name="Text 35"/>
          <p:cNvSpPr/>
          <p:nvPr/>
        </p:nvSpPr>
        <p:spPr>
          <a:xfrm>
            <a:off x="411480" y="4773168"/>
            <a:ext cx="8321040" cy="237744"/>
          </a:xfrm>
          <a:prstGeom prst="rect">
            <a:avLst/>
          </a:prstGeom>
          <a:noFill/>
          <a:ln/>
        </p:spPr>
        <p:txBody>
          <a:bodyPr wrap="square" rtlCol="0" anchor="ctr"/>
          <a:lstStyle/>
          <a:p>
            <a:pPr marL="0" indent="0" algn="ctr">
              <a:buNone/>
            </a:pPr>
            <a:r>
              <a:rPr lang="en-US" sz="900" dirty="0">
                <a:solidFill>
                  <a:srgbClr val="64748B"/>
                </a:solidFill>
                <a:latin typeface="Arial" pitchFamily="34" charset="0"/>
                <a:ea typeface="Arial" pitchFamily="34" charset="-122"/>
                <a:cs typeface="Arial" pitchFamily="34" charset="-120"/>
              </a:rPr>
              <a:t>GitHub: Pitchumca/colony-counter_IntelliSphere  ·  Deployed on Streamlit Community Cloud</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3" name="Text 1"/>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LIMITATIONS &amp; FUTURE WORK</a:t>
            </a:r>
            <a:endParaRPr lang="en-US" sz="900" dirty="0"/>
          </a:p>
        </p:txBody>
      </p:sp>
      <p:sp>
        <p:nvSpPr>
          <p:cNvPr id="4" name="Text 2"/>
          <p:cNvSpPr/>
          <p:nvPr/>
        </p:nvSpPr>
        <p:spPr>
          <a:xfrm>
            <a:off x="411480" y="566928"/>
            <a:ext cx="8321040" cy="457200"/>
          </a:xfrm>
          <a:prstGeom prst="rect">
            <a:avLst/>
          </a:prstGeom>
          <a:noFill/>
          <a:ln/>
        </p:spPr>
        <p:txBody>
          <a:bodyPr wrap="square" rtlCol="0" anchor="ctr"/>
          <a:lstStyle/>
          <a:p>
            <a:pPr marL="0" indent="0">
              <a:buNone/>
            </a:pPr>
            <a:r>
              <a:rPr lang="en-US" sz="2600" b="1" dirty="0">
                <a:solidFill>
                  <a:srgbClr val="1B3A6B"/>
                </a:solidFill>
                <a:latin typeface="Arial" pitchFamily="34" charset="0"/>
                <a:ea typeface="Arial" pitchFamily="34" charset="-122"/>
                <a:cs typeface="Arial" pitchFamily="34" charset="-120"/>
              </a:rPr>
              <a:t>What We Learned &amp; Where We Go Next</a:t>
            </a:r>
            <a:endParaRPr lang="en-US" sz="2600" dirty="0"/>
          </a:p>
        </p:txBody>
      </p:sp>
      <p:sp>
        <p:nvSpPr>
          <p:cNvPr id="5" name="Shape 3"/>
          <p:cNvSpPr/>
          <p:nvPr/>
        </p:nvSpPr>
        <p:spPr>
          <a:xfrm>
            <a:off x="411480" y="1143000"/>
            <a:ext cx="3931920" cy="2926080"/>
          </a:xfrm>
          <a:prstGeom prst="roundRect">
            <a:avLst>
              <a:gd name="adj" fmla="val 3750"/>
            </a:avLst>
          </a:prstGeom>
          <a:solidFill>
            <a:srgbClr val="FFF7ED"/>
          </a:solidFill>
          <a:ln w="12700">
            <a:solidFill>
              <a:srgbClr val="FED7AA"/>
            </a:solidFill>
            <a:prstDash val="solid"/>
          </a:ln>
        </p:spPr>
      </p:sp>
      <p:sp>
        <p:nvSpPr>
          <p:cNvPr id="6" name="Text 4"/>
          <p:cNvSpPr/>
          <p:nvPr/>
        </p:nvSpPr>
        <p:spPr>
          <a:xfrm>
            <a:off x="594360" y="1261872"/>
            <a:ext cx="3566160" cy="347472"/>
          </a:xfrm>
          <a:prstGeom prst="rect">
            <a:avLst/>
          </a:prstGeom>
          <a:noFill/>
          <a:ln/>
        </p:spPr>
        <p:txBody>
          <a:bodyPr wrap="square" rtlCol="0" anchor="ctr"/>
          <a:lstStyle/>
          <a:p>
            <a:pPr marL="0" indent="0">
              <a:buNone/>
            </a:pPr>
            <a:r>
              <a:rPr lang="en-US" sz="1300" b="1" dirty="0">
                <a:solidFill>
                  <a:srgbClr val="92400E"/>
                </a:solidFill>
                <a:latin typeface="Arial" pitchFamily="34" charset="0"/>
                <a:ea typeface="Arial" pitchFamily="34" charset="-122"/>
                <a:cs typeface="Arial" pitchFamily="34" charset="-120"/>
              </a:rPr>
              <a:t>⚠  Current Limitations</a:t>
            </a:r>
            <a:endParaRPr lang="en-US" sz="1300" dirty="0"/>
          </a:p>
        </p:txBody>
      </p:sp>
      <p:sp>
        <p:nvSpPr>
          <p:cNvPr id="7" name="Text 5"/>
          <p:cNvSpPr/>
          <p:nvPr/>
        </p:nvSpPr>
        <p:spPr>
          <a:xfrm>
            <a:off x="594360" y="1691640"/>
            <a:ext cx="3566160" cy="384048"/>
          </a:xfrm>
          <a:prstGeom prst="rect">
            <a:avLst/>
          </a:prstGeom>
          <a:noFill/>
          <a:ln/>
        </p:spPr>
        <p:txBody>
          <a:bodyPr wrap="square" rtlCol="0" anchor="ctr"/>
          <a:lstStyle/>
          <a:p>
            <a:pPr marL="0" indent="0">
              <a:buNone/>
            </a:pPr>
            <a:r>
              <a:rPr lang="en-US" sz="1000" dirty="0">
                <a:solidFill>
                  <a:srgbClr val="92400E"/>
                </a:solidFill>
                <a:latin typeface="Arial" pitchFamily="34" charset="0"/>
                <a:ea typeface="Arial" pitchFamily="34" charset="-122"/>
                <a:cs typeface="Arial" pitchFamily="34" charset="-120"/>
              </a:rPr>
              <a:t>•  Gaussian noise collapses dense plate detection</a:t>
            </a:r>
            <a:endParaRPr lang="en-US" sz="1000" dirty="0"/>
          </a:p>
        </p:txBody>
      </p:sp>
      <p:sp>
        <p:nvSpPr>
          <p:cNvPr id="8" name="Text 6"/>
          <p:cNvSpPr/>
          <p:nvPr/>
        </p:nvSpPr>
        <p:spPr>
          <a:xfrm>
            <a:off x="594360" y="2130552"/>
            <a:ext cx="3566160" cy="384048"/>
          </a:xfrm>
          <a:prstGeom prst="rect">
            <a:avLst/>
          </a:prstGeom>
          <a:noFill/>
          <a:ln/>
        </p:spPr>
        <p:txBody>
          <a:bodyPr wrap="square" rtlCol="0" anchor="ctr"/>
          <a:lstStyle/>
          <a:p>
            <a:pPr marL="0" indent="0">
              <a:buNone/>
            </a:pPr>
            <a:r>
              <a:rPr lang="en-US" sz="1000" dirty="0">
                <a:solidFill>
                  <a:srgbClr val="92400E"/>
                </a:solidFill>
                <a:latin typeface="Arial" pitchFamily="34" charset="0"/>
                <a:ea typeface="Arial" pitchFamily="34" charset="-122"/>
                <a:cs typeface="Arial" pitchFamily="34" charset="-120"/>
              </a:rPr>
              <a:t>•  High-density countable plates (150–250 CFU): MAPE 43–47%</a:t>
            </a:r>
            <a:endParaRPr lang="en-US" sz="1000" dirty="0"/>
          </a:p>
        </p:txBody>
      </p:sp>
      <p:sp>
        <p:nvSpPr>
          <p:cNvPr id="9" name="Text 7"/>
          <p:cNvSpPr/>
          <p:nvPr/>
        </p:nvSpPr>
        <p:spPr>
          <a:xfrm>
            <a:off x="594360" y="2569464"/>
            <a:ext cx="3566160" cy="384048"/>
          </a:xfrm>
          <a:prstGeom prst="rect">
            <a:avLst/>
          </a:prstGeom>
          <a:noFill/>
          <a:ln/>
        </p:spPr>
        <p:txBody>
          <a:bodyPr wrap="square" rtlCol="0" anchor="ctr"/>
          <a:lstStyle/>
          <a:p>
            <a:pPr marL="0" indent="0">
              <a:buNone/>
            </a:pPr>
            <a:r>
              <a:rPr lang="en-US" sz="1000" dirty="0">
                <a:solidFill>
                  <a:srgbClr val="92400E"/>
                </a:solidFill>
                <a:latin typeface="Arial" pitchFamily="34" charset="0"/>
                <a:ea typeface="Arial" pitchFamily="34" charset="-122"/>
                <a:cs typeface="Arial" pitchFamily="34" charset="-120"/>
              </a:rPr>
              <a:t>•  RF evaluation limited to 26-plate split</a:t>
            </a:r>
            <a:endParaRPr lang="en-US" sz="1000" dirty="0"/>
          </a:p>
        </p:txBody>
      </p:sp>
      <p:sp>
        <p:nvSpPr>
          <p:cNvPr id="10" name="Text 8"/>
          <p:cNvSpPr/>
          <p:nvPr/>
        </p:nvSpPr>
        <p:spPr>
          <a:xfrm>
            <a:off x="594360" y="3008376"/>
            <a:ext cx="3566160" cy="384048"/>
          </a:xfrm>
          <a:prstGeom prst="rect">
            <a:avLst/>
          </a:prstGeom>
          <a:noFill/>
          <a:ln/>
        </p:spPr>
        <p:txBody>
          <a:bodyPr wrap="square" rtlCol="0" anchor="ctr"/>
          <a:lstStyle/>
          <a:p>
            <a:pPr marL="0" indent="0">
              <a:buNone/>
            </a:pPr>
            <a:r>
              <a:rPr lang="en-US" sz="1000" dirty="0">
                <a:solidFill>
                  <a:srgbClr val="92400E"/>
                </a:solidFill>
                <a:latin typeface="Arial" pitchFamily="34" charset="0"/>
                <a:ea typeface="Arial" pitchFamily="34" charset="-122"/>
                <a:cs typeface="Arial" pitchFamily="34" charset="-120"/>
              </a:rPr>
              <a:t>•  Validated on E. coli / LB agar only</a:t>
            </a:r>
            <a:endParaRPr lang="en-US" sz="1000" dirty="0"/>
          </a:p>
        </p:txBody>
      </p:sp>
      <p:sp>
        <p:nvSpPr>
          <p:cNvPr id="11" name="Text 9"/>
          <p:cNvSpPr/>
          <p:nvPr/>
        </p:nvSpPr>
        <p:spPr>
          <a:xfrm>
            <a:off x="594360" y="3447288"/>
            <a:ext cx="3566160" cy="384048"/>
          </a:xfrm>
          <a:prstGeom prst="rect">
            <a:avLst/>
          </a:prstGeom>
          <a:noFill/>
          <a:ln/>
        </p:spPr>
        <p:txBody>
          <a:bodyPr wrap="square" rtlCol="0" anchor="ctr"/>
          <a:lstStyle/>
          <a:p>
            <a:pPr marL="0" indent="0">
              <a:buNone/>
            </a:pPr>
            <a:r>
              <a:rPr lang="en-US" sz="1000" dirty="0">
                <a:solidFill>
                  <a:srgbClr val="92400E"/>
                </a:solidFill>
                <a:latin typeface="Arial" pitchFamily="34" charset="0"/>
                <a:ea typeface="Arial" pitchFamily="34" charset="-122"/>
                <a:cs typeface="Arial" pitchFamily="34" charset="-120"/>
              </a:rPr>
              <a:t>•  LoG inflates consensus error at high density</a:t>
            </a:r>
            <a:endParaRPr lang="en-US" sz="1000" dirty="0"/>
          </a:p>
        </p:txBody>
      </p:sp>
      <p:sp>
        <p:nvSpPr>
          <p:cNvPr id="12" name="Shape 10"/>
          <p:cNvSpPr/>
          <p:nvPr/>
        </p:nvSpPr>
        <p:spPr>
          <a:xfrm>
            <a:off x="4754880" y="1143000"/>
            <a:ext cx="3977640" cy="2926080"/>
          </a:xfrm>
          <a:prstGeom prst="roundRect">
            <a:avLst>
              <a:gd name="adj" fmla="val 3750"/>
            </a:avLst>
          </a:prstGeom>
          <a:solidFill>
            <a:srgbClr val="F0FDF4"/>
          </a:solidFill>
          <a:ln w="12700">
            <a:solidFill>
              <a:srgbClr val="BBF7D0"/>
            </a:solidFill>
            <a:prstDash val="solid"/>
          </a:ln>
        </p:spPr>
      </p:sp>
      <p:sp>
        <p:nvSpPr>
          <p:cNvPr id="13" name="Text 11"/>
          <p:cNvSpPr/>
          <p:nvPr/>
        </p:nvSpPr>
        <p:spPr>
          <a:xfrm>
            <a:off x="4937760" y="1261872"/>
            <a:ext cx="3611880" cy="347472"/>
          </a:xfrm>
          <a:prstGeom prst="rect">
            <a:avLst/>
          </a:prstGeom>
          <a:noFill/>
          <a:ln/>
        </p:spPr>
        <p:txBody>
          <a:bodyPr wrap="square" rtlCol="0" anchor="ctr"/>
          <a:lstStyle/>
          <a:p>
            <a:pPr marL="0" indent="0">
              <a:buNone/>
            </a:pPr>
            <a:r>
              <a:rPr lang="en-US" sz="1300" b="1" dirty="0">
                <a:solidFill>
                  <a:srgbClr val="166534"/>
                </a:solidFill>
                <a:latin typeface="Arial" pitchFamily="34" charset="0"/>
                <a:ea typeface="Arial" pitchFamily="34" charset="-122"/>
                <a:cs typeface="Arial" pitchFamily="34" charset="-120"/>
              </a:rPr>
              <a:t>🚀  Future Directions</a:t>
            </a:r>
            <a:endParaRPr lang="en-US" sz="1300" dirty="0"/>
          </a:p>
        </p:txBody>
      </p:sp>
      <p:sp>
        <p:nvSpPr>
          <p:cNvPr id="14" name="Text 12"/>
          <p:cNvSpPr/>
          <p:nvPr/>
        </p:nvSpPr>
        <p:spPr>
          <a:xfrm>
            <a:off x="4937760" y="1691640"/>
            <a:ext cx="3611880" cy="384048"/>
          </a:xfrm>
          <a:prstGeom prst="rect">
            <a:avLst/>
          </a:prstGeom>
          <a:noFill/>
          <a:ln/>
        </p:spPr>
        <p:txBody>
          <a:bodyPr wrap="square" rtlCol="0" anchor="ctr"/>
          <a:lstStyle/>
          <a:p>
            <a:pPr marL="0" indent="0">
              <a:buNone/>
            </a:pPr>
            <a:r>
              <a:rPr lang="en-US" sz="1000" dirty="0">
                <a:solidFill>
                  <a:srgbClr val="166534"/>
                </a:solidFill>
                <a:latin typeface="Arial" pitchFamily="34" charset="0"/>
                <a:ea typeface="Arial" pitchFamily="34" charset="-122"/>
                <a:cs typeface="Arial" pitchFamily="34" charset="-120"/>
              </a:rPr>
              <a:t>✦  Add bilateral / NLM denoising pre-processing</a:t>
            </a:r>
            <a:endParaRPr lang="en-US" sz="1000" dirty="0"/>
          </a:p>
        </p:txBody>
      </p:sp>
      <p:sp>
        <p:nvSpPr>
          <p:cNvPr id="15" name="Text 13"/>
          <p:cNvSpPr/>
          <p:nvPr/>
        </p:nvSpPr>
        <p:spPr>
          <a:xfrm>
            <a:off x="4937760" y="2130552"/>
            <a:ext cx="3611880" cy="384048"/>
          </a:xfrm>
          <a:prstGeom prst="rect">
            <a:avLst/>
          </a:prstGeom>
          <a:noFill/>
          <a:ln/>
        </p:spPr>
        <p:txBody>
          <a:bodyPr wrap="square" rtlCol="0" anchor="ctr"/>
          <a:lstStyle/>
          <a:p>
            <a:pPr marL="0" indent="0">
              <a:buNone/>
            </a:pPr>
            <a:r>
              <a:rPr lang="en-US" sz="1000" dirty="0">
                <a:solidFill>
                  <a:srgbClr val="166534"/>
                </a:solidFill>
                <a:latin typeface="Arial" pitchFamily="34" charset="0"/>
                <a:ea typeface="Arial" pitchFamily="34" charset="-122"/>
                <a:cs typeface="Arial" pitchFamily="34" charset="-120"/>
              </a:rPr>
              <a:t>✦  Density-conditional LoG weight in Consensus</a:t>
            </a:r>
            <a:endParaRPr lang="en-US" sz="1000" dirty="0"/>
          </a:p>
        </p:txBody>
      </p:sp>
      <p:sp>
        <p:nvSpPr>
          <p:cNvPr id="16" name="Text 14"/>
          <p:cNvSpPr/>
          <p:nvPr/>
        </p:nvSpPr>
        <p:spPr>
          <a:xfrm>
            <a:off x="4937760" y="2569464"/>
            <a:ext cx="3611880" cy="384048"/>
          </a:xfrm>
          <a:prstGeom prst="rect">
            <a:avLst/>
          </a:prstGeom>
          <a:noFill/>
          <a:ln/>
        </p:spPr>
        <p:txBody>
          <a:bodyPr wrap="square" rtlCol="0" anchor="ctr"/>
          <a:lstStyle/>
          <a:p>
            <a:pPr marL="0" indent="0">
              <a:buNone/>
            </a:pPr>
            <a:r>
              <a:rPr lang="en-US" sz="1000" dirty="0">
                <a:solidFill>
                  <a:srgbClr val="166534"/>
                </a:solidFill>
                <a:latin typeface="Arial" pitchFamily="34" charset="0"/>
                <a:ea typeface="Arial" pitchFamily="34" charset="-122"/>
                <a:cs typeface="Arial" pitchFamily="34" charset="-120"/>
              </a:rPr>
              <a:t>✦  Optional deep learning (SAM / Mask R-CNN) for very dense plates</a:t>
            </a:r>
            <a:endParaRPr lang="en-US" sz="1000" dirty="0"/>
          </a:p>
        </p:txBody>
      </p:sp>
      <p:sp>
        <p:nvSpPr>
          <p:cNvPr id="17" name="Text 15"/>
          <p:cNvSpPr/>
          <p:nvPr/>
        </p:nvSpPr>
        <p:spPr>
          <a:xfrm>
            <a:off x="4937760" y="3008376"/>
            <a:ext cx="3611880" cy="384048"/>
          </a:xfrm>
          <a:prstGeom prst="rect">
            <a:avLst/>
          </a:prstGeom>
          <a:noFill/>
          <a:ln/>
        </p:spPr>
        <p:txBody>
          <a:bodyPr wrap="square" rtlCol="0" anchor="ctr"/>
          <a:lstStyle/>
          <a:p>
            <a:pPr marL="0" indent="0">
              <a:buNone/>
            </a:pPr>
            <a:r>
              <a:rPr lang="en-US" sz="1000" dirty="0">
                <a:solidFill>
                  <a:srgbClr val="166534"/>
                </a:solidFill>
                <a:latin typeface="Arial" pitchFamily="34" charset="0"/>
                <a:ea typeface="Arial" pitchFamily="34" charset="-122"/>
                <a:cs typeface="Arial" pitchFamily="34" charset="-120"/>
              </a:rPr>
              <a:t>✦  Expand to multi-species, multi-agar validation sets</a:t>
            </a:r>
            <a:endParaRPr lang="en-US" sz="1000" dirty="0"/>
          </a:p>
        </p:txBody>
      </p:sp>
      <p:sp>
        <p:nvSpPr>
          <p:cNvPr id="18" name="Text 16"/>
          <p:cNvSpPr/>
          <p:nvPr/>
        </p:nvSpPr>
        <p:spPr>
          <a:xfrm>
            <a:off x="4937760" y="3447288"/>
            <a:ext cx="3611880" cy="384048"/>
          </a:xfrm>
          <a:prstGeom prst="rect">
            <a:avLst/>
          </a:prstGeom>
          <a:noFill/>
          <a:ln/>
        </p:spPr>
        <p:txBody>
          <a:bodyPr wrap="square" rtlCol="0" anchor="ctr"/>
          <a:lstStyle/>
          <a:p>
            <a:pPr marL="0" indent="0">
              <a:buNone/>
            </a:pPr>
            <a:r>
              <a:rPr lang="en-US" sz="1000" dirty="0">
                <a:solidFill>
                  <a:srgbClr val="166534"/>
                </a:solidFill>
                <a:latin typeface="Arial" pitchFamily="34" charset="0"/>
                <a:ea typeface="Arial" pitchFamily="34" charset="-122"/>
                <a:cs typeface="Arial" pitchFamily="34" charset="-120"/>
              </a:rPr>
              <a:t>✦  Tablet app with auto-capture &amp; real-time CFU display</a:t>
            </a:r>
            <a:endParaRPr lang="en-US" sz="1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w="12700">
            <a:solidFill>
              <a:srgbClr val="1B3A6B"/>
            </a:solidFill>
            <a:prstDash val="solid"/>
          </a:ln>
        </p:spPr>
      </p:sp>
      <p:sp>
        <p:nvSpPr>
          <p:cNvPr id="3" name="Shape 1"/>
          <p:cNvSpPr/>
          <p:nvPr/>
        </p:nvSpPr>
        <p:spPr>
          <a:xfrm>
            <a:off x="-914400" y="3200400"/>
            <a:ext cx="2743200" cy="2743200"/>
          </a:xfrm>
          <a:prstGeom prst="ellipse">
            <a:avLst/>
          </a:prstGeom>
          <a:solidFill>
            <a:srgbClr val="02C39A">
              <a:alpha val="12000"/>
            </a:srgbClr>
          </a:solidFill>
          <a:ln w="12700">
            <a:solidFill>
              <a:srgbClr val="02C39A">
                <a:alpha val="12000"/>
              </a:srgbClr>
            </a:solidFill>
            <a:prstDash val="solid"/>
          </a:ln>
        </p:spPr>
      </p:sp>
      <p:sp>
        <p:nvSpPr>
          <p:cNvPr id="4" name="Shape 2"/>
          <p:cNvSpPr/>
          <p:nvPr/>
        </p:nvSpPr>
        <p:spPr>
          <a:xfrm>
            <a:off x="7498080" y="-731520"/>
            <a:ext cx="2560320" cy="2560320"/>
          </a:xfrm>
          <a:prstGeom prst="ellipse">
            <a:avLst/>
          </a:prstGeom>
          <a:solidFill>
            <a:srgbClr val="028090">
              <a:alpha val="18000"/>
            </a:srgbClr>
          </a:solidFill>
          <a:ln w="12700">
            <a:solidFill>
              <a:srgbClr val="028090">
                <a:alpha val="18000"/>
              </a:srgbClr>
            </a:solidFill>
            <a:prstDash val="solid"/>
          </a:ln>
        </p:spPr>
      </p:sp>
      <p:sp>
        <p:nvSpPr>
          <p:cNvPr id="5" name="Shape 3"/>
          <p:cNvSpPr/>
          <p:nvPr/>
        </p:nvSpPr>
        <p:spPr>
          <a:xfrm>
            <a:off x="411480" y="228600"/>
            <a:ext cx="2011680" cy="292608"/>
          </a:xfrm>
          <a:prstGeom prst="roundRect">
            <a:avLst>
              <a:gd name="adj" fmla="val 25000"/>
            </a:avLst>
          </a:prstGeom>
          <a:solidFill>
            <a:srgbClr val="028090"/>
          </a:solidFill>
          <a:ln w="12700">
            <a:solidFill>
              <a:srgbClr val="028090"/>
            </a:solidFill>
            <a:prstDash val="solid"/>
          </a:ln>
        </p:spPr>
      </p:sp>
      <p:sp>
        <p:nvSpPr>
          <p:cNvPr id="6" name="Text 4"/>
          <p:cNvSpPr/>
          <p:nvPr/>
        </p:nvSpPr>
        <p:spPr>
          <a:xfrm>
            <a:off x="411480" y="228600"/>
            <a:ext cx="201168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CONCLUSIONS</a:t>
            </a:r>
            <a:endParaRPr lang="en-US" sz="900" dirty="0"/>
          </a:p>
        </p:txBody>
      </p:sp>
      <p:sp>
        <p:nvSpPr>
          <p:cNvPr id="7" name="Text 5"/>
          <p:cNvSpPr/>
          <p:nvPr/>
        </p:nvSpPr>
        <p:spPr>
          <a:xfrm>
            <a:off x="411480" y="566928"/>
            <a:ext cx="8321040" cy="457200"/>
          </a:xfrm>
          <a:prstGeom prst="rect">
            <a:avLst/>
          </a:prstGeom>
          <a:noFill/>
          <a:ln/>
        </p:spPr>
        <p:txBody>
          <a:bodyPr wrap="square" rtlCol="0" anchor="ctr"/>
          <a:lstStyle/>
          <a:p>
            <a:pPr marL="0" indent="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8" name="Shape 6"/>
          <p:cNvSpPr/>
          <p:nvPr/>
        </p:nvSpPr>
        <p:spPr>
          <a:xfrm>
            <a:off x="411480" y="1234440"/>
            <a:ext cx="8321040" cy="713232"/>
          </a:xfrm>
          <a:prstGeom prst="roundRect">
            <a:avLst>
              <a:gd name="adj" fmla="val 12821"/>
            </a:avLst>
          </a:prstGeom>
          <a:solidFill>
            <a:srgbClr val="FFFFFF">
              <a:alpha val="8000"/>
            </a:srgbClr>
          </a:solidFill>
          <a:ln w="12700">
            <a:solidFill>
              <a:srgbClr val="FFFFFF">
                <a:alpha val="25000"/>
              </a:srgbClr>
            </a:solidFill>
            <a:prstDash val="solid"/>
          </a:ln>
        </p:spPr>
      </p:sp>
      <p:sp>
        <p:nvSpPr>
          <p:cNvPr id="9" name="Text 7"/>
          <p:cNvSpPr/>
          <p:nvPr/>
        </p:nvSpPr>
        <p:spPr>
          <a:xfrm>
            <a:off x="502920" y="1234440"/>
            <a:ext cx="640080" cy="713232"/>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1216152" y="1307592"/>
            <a:ext cx="2926080" cy="274320"/>
          </a:xfrm>
          <a:prstGeom prst="rect">
            <a:avLst/>
          </a:prstGeom>
          <a:noFill/>
          <a:ln/>
        </p:spPr>
        <p:txBody>
          <a:bodyPr wrap="square" rtlCol="0" anchor="ctr"/>
          <a:lstStyle/>
          <a:p>
            <a:pPr marL="0" indent="0">
              <a:buNone/>
            </a:pPr>
            <a:r>
              <a:rPr lang="en-US" sz="1300" b="1" dirty="0">
                <a:solidFill>
                  <a:srgbClr val="02C39A"/>
                </a:solidFill>
                <a:latin typeface="Arial" pitchFamily="34" charset="0"/>
                <a:ea typeface="Arial" pitchFamily="34" charset="-122"/>
                <a:cs typeface="Arial" pitchFamily="34" charset="-120"/>
              </a:rPr>
              <a:t>80.8% Plate Classification</a:t>
            </a:r>
            <a:endParaRPr lang="en-US" sz="1300" dirty="0"/>
          </a:p>
        </p:txBody>
      </p:sp>
      <p:sp>
        <p:nvSpPr>
          <p:cNvPr id="11" name="Text 9"/>
          <p:cNvSpPr/>
          <p:nvPr/>
        </p:nvSpPr>
        <p:spPr>
          <a:xfrm>
            <a:off x="1216152" y="1600200"/>
            <a:ext cx="7315200" cy="27432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RF correctly assesses countable vs TNTC/TFTC with high recall (0.89)</a:t>
            </a:r>
            <a:endParaRPr lang="en-US" sz="1050" dirty="0"/>
          </a:p>
        </p:txBody>
      </p:sp>
      <p:sp>
        <p:nvSpPr>
          <p:cNvPr id="12" name="Shape 10"/>
          <p:cNvSpPr/>
          <p:nvPr/>
        </p:nvSpPr>
        <p:spPr>
          <a:xfrm>
            <a:off x="411480" y="2075688"/>
            <a:ext cx="8321040" cy="713232"/>
          </a:xfrm>
          <a:prstGeom prst="roundRect">
            <a:avLst>
              <a:gd name="adj" fmla="val 12821"/>
            </a:avLst>
          </a:prstGeom>
          <a:solidFill>
            <a:srgbClr val="FFFFFF">
              <a:alpha val="8000"/>
            </a:srgbClr>
          </a:solidFill>
          <a:ln w="12700">
            <a:solidFill>
              <a:srgbClr val="FFFFFF">
                <a:alpha val="25000"/>
              </a:srgbClr>
            </a:solidFill>
            <a:prstDash val="solid"/>
          </a:ln>
        </p:spPr>
      </p:sp>
      <p:sp>
        <p:nvSpPr>
          <p:cNvPr id="13" name="Text 11"/>
          <p:cNvSpPr/>
          <p:nvPr/>
        </p:nvSpPr>
        <p:spPr>
          <a:xfrm>
            <a:off x="502920" y="2075688"/>
            <a:ext cx="640080" cy="713232"/>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1216152" y="2148840"/>
            <a:ext cx="2926080" cy="274320"/>
          </a:xfrm>
          <a:prstGeom prst="rect">
            <a:avLst/>
          </a:prstGeom>
          <a:noFill/>
          <a:ln/>
        </p:spPr>
        <p:txBody>
          <a:bodyPr wrap="square" rtlCol="0" anchor="ctr"/>
          <a:lstStyle/>
          <a:p>
            <a:pPr marL="0" indent="0">
              <a:buNone/>
            </a:pPr>
            <a:r>
              <a:rPr lang="en-US" sz="1300" b="1" dirty="0">
                <a:solidFill>
                  <a:srgbClr val="02C39A"/>
                </a:solidFill>
                <a:latin typeface="Arial" pitchFamily="34" charset="0"/>
                <a:ea typeface="Arial" pitchFamily="34" charset="-122"/>
                <a:cs typeface="Arial" pitchFamily="34" charset="-120"/>
              </a:rPr>
              <a:t>2.3× R² Improvement</a:t>
            </a:r>
            <a:endParaRPr lang="en-US" sz="1300" dirty="0"/>
          </a:p>
        </p:txBody>
      </p:sp>
      <p:sp>
        <p:nvSpPr>
          <p:cNvPr id="15" name="Text 13"/>
          <p:cNvSpPr/>
          <p:nvPr/>
        </p:nvSpPr>
        <p:spPr>
          <a:xfrm>
            <a:off x="1216152" y="2441448"/>
            <a:ext cx="7315200" cy="27432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Watershed over Connected Components baseline (0.421 vs 0.185)</a:t>
            </a:r>
            <a:endParaRPr lang="en-US" sz="1050" dirty="0"/>
          </a:p>
        </p:txBody>
      </p:sp>
      <p:sp>
        <p:nvSpPr>
          <p:cNvPr id="16" name="Shape 14"/>
          <p:cNvSpPr/>
          <p:nvPr/>
        </p:nvSpPr>
        <p:spPr>
          <a:xfrm>
            <a:off x="411480" y="2916936"/>
            <a:ext cx="8321040" cy="713232"/>
          </a:xfrm>
          <a:prstGeom prst="roundRect">
            <a:avLst>
              <a:gd name="adj" fmla="val 12821"/>
            </a:avLst>
          </a:prstGeom>
          <a:solidFill>
            <a:srgbClr val="FFFFFF">
              <a:alpha val="8000"/>
            </a:srgbClr>
          </a:solidFill>
          <a:ln w="12700">
            <a:solidFill>
              <a:srgbClr val="FFFFFF">
                <a:alpha val="25000"/>
              </a:srgbClr>
            </a:solidFill>
            <a:prstDash val="solid"/>
          </a:ln>
        </p:spPr>
      </p:sp>
      <p:sp>
        <p:nvSpPr>
          <p:cNvPr id="17" name="Text 15"/>
          <p:cNvSpPr/>
          <p:nvPr/>
        </p:nvSpPr>
        <p:spPr>
          <a:xfrm>
            <a:off x="502920" y="2916936"/>
            <a:ext cx="640080" cy="713232"/>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216152" y="2990088"/>
            <a:ext cx="2926080" cy="274320"/>
          </a:xfrm>
          <a:prstGeom prst="rect">
            <a:avLst/>
          </a:prstGeom>
          <a:noFill/>
          <a:ln/>
        </p:spPr>
        <p:txBody>
          <a:bodyPr wrap="square" rtlCol="0" anchor="ctr"/>
          <a:lstStyle/>
          <a:p>
            <a:pPr marL="0" indent="0">
              <a:buNone/>
            </a:pPr>
            <a:r>
              <a:rPr lang="en-US" sz="1300" b="1" dirty="0">
                <a:solidFill>
                  <a:srgbClr val="02C39A"/>
                </a:solidFill>
                <a:latin typeface="Arial" pitchFamily="34" charset="0"/>
                <a:ea typeface="Arial" pitchFamily="34" charset="-122"/>
                <a:cs typeface="Arial" pitchFamily="34" charset="-120"/>
              </a:rPr>
              <a:t>42.12 MAE / 0.422 R²</a:t>
            </a:r>
            <a:endParaRPr lang="en-US" sz="1300" dirty="0"/>
          </a:p>
        </p:txBody>
      </p:sp>
      <p:sp>
        <p:nvSpPr>
          <p:cNvPr id="19" name="Text 17"/>
          <p:cNvSpPr/>
          <p:nvPr/>
        </p:nvSpPr>
        <p:spPr>
          <a:xfrm>
            <a:off x="1216152" y="3282696"/>
            <a:ext cx="7315200" cy="27432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Consensus counter is best overall; 64.81% counting accuracy</a:t>
            </a:r>
            <a:endParaRPr lang="en-US" sz="1050" dirty="0"/>
          </a:p>
        </p:txBody>
      </p:sp>
      <p:sp>
        <p:nvSpPr>
          <p:cNvPr id="20" name="Shape 18"/>
          <p:cNvSpPr/>
          <p:nvPr/>
        </p:nvSpPr>
        <p:spPr>
          <a:xfrm>
            <a:off x="411480" y="3758184"/>
            <a:ext cx="8321040" cy="713232"/>
          </a:xfrm>
          <a:prstGeom prst="roundRect">
            <a:avLst>
              <a:gd name="adj" fmla="val 12821"/>
            </a:avLst>
          </a:prstGeom>
          <a:solidFill>
            <a:srgbClr val="FFFFFF">
              <a:alpha val="8000"/>
            </a:srgbClr>
          </a:solidFill>
          <a:ln w="12700">
            <a:solidFill>
              <a:srgbClr val="FFFFFF">
                <a:alpha val="25000"/>
              </a:srgbClr>
            </a:solidFill>
            <a:prstDash val="solid"/>
          </a:ln>
        </p:spPr>
      </p:sp>
      <p:sp>
        <p:nvSpPr>
          <p:cNvPr id="21" name="Text 19"/>
          <p:cNvSpPr/>
          <p:nvPr/>
        </p:nvSpPr>
        <p:spPr>
          <a:xfrm>
            <a:off x="502920" y="3758184"/>
            <a:ext cx="640080" cy="713232"/>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1216152" y="3831336"/>
            <a:ext cx="2926080" cy="274320"/>
          </a:xfrm>
          <a:prstGeom prst="rect">
            <a:avLst/>
          </a:prstGeom>
          <a:noFill/>
          <a:ln/>
        </p:spPr>
        <p:txBody>
          <a:bodyPr wrap="square" rtlCol="0" anchor="ctr"/>
          <a:lstStyle/>
          <a:p>
            <a:pPr marL="0" indent="0">
              <a:buNone/>
            </a:pPr>
            <a:r>
              <a:rPr lang="en-US" sz="1300" b="1" dirty="0">
                <a:solidFill>
                  <a:srgbClr val="02C39A"/>
                </a:solidFill>
                <a:latin typeface="Arial" pitchFamily="34" charset="0"/>
                <a:ea typeface="Arial" pitchFamily="34" charset="-122"/>
                <a:cs typeface="Arial" pitchFamily="34" charset="-120"/>
              </a:rPr>
              <a:t>Robust to Light Changes</a:t>
            </a:r>
            <a:endParaRPr lang="en-US" sz="1300" dirty="0"/>
          </a:p>
        </p:txBody>
      </p:sp>
      <p:sp>
        <p:nvSpPr>
          <p:cNvPr id="23" name="Text 21"/>
          <p:cNvSpPr/>
          <p:nvPr/>
        </p:nvSpPr>
        <p:spPr>
          <a:xfrm>
            <a:off x="1216152" y="4123944"/>
            <a:ext cx="7315200" cy="274320"/>
          </a:xfrm>
          <a:prstGeom prst="rect">
            <a:avLst/>
          </a:prstGeom>
          <a:noFill/>
          <a:ln/>
        </p:spPr>
        <p:txBody>
          <a:bodyPr wrap="square" rtlCol="0" anchor="ctr"/>
          <a:lstStyle/>
          <a:p>
            <a:pPr marL="0" indent="0">
              <a:buNone/>
            </a:pPr>
            <a:r>
              <a:rPr lang="en-US" sz="1050" dirty="0">
                <a:solidFill>
                  <a:srgbClr val="CBD5E1"/>
                </a:solidFill>
                <a:latin typeface="Arial" pitchFamily="34" charset="0"/>
                <a:ea typeface="Arial" pitchFamily="34" charset="-122"/>
                <a:cs typeface="Arial" pitchFamily="34" charset="-120"/>
              </a:rPr>
              <a:t>&lt; 10 count deviation under dark/bright perturbations</a:t>
            </a:r>
            <a:endParaRPr lang="en-US" sz="1050" dirty="0"/>
          </a:p>
        </p:txBody>
      </p:sp>
      <p:sp>
        <p:nvSpPr>
          <p:cNvPr id="24" name="Text 22"/>
          <p:cNvSpPr/>
          <p:nvPr/>
        </p:nvSpPr>
        <p:spPr>
          <a:xfrm>
            <a:off x="411480" y="4617720"/>
            <a:ext cx="8321040" cy="347472"/>
          </a:xfrm>
          <a:prstGeom prst="rect">
            <a:avLst/>
          </a:prstGeom>
          <a:noFill/>
          <a:ln/>
        </p:spPr>
        <p:txBody>
          <a:bodyPr wrap="square" rtlCol="0" anchor="ctr"/>
          <a:lstStyle/>
          <a:p>
            <a:pPr marL="0" indent="0" algn="ctr">
              <a:buNone/>
            </a:pPr>
            <a:r>
              <a:rPr lang="en-US" sz="1100" dirty="0">
                <a:solidFill>
                  <a:srgbClr val="94A3B8"/>
                </a:solidFill>
                <a:latin typeface="Arial" pitchFamily="34" charset="0"/>
                <a:ea typeface="Arial" pitchFamily="34" charset="-122"/>
                <a:cs typeface="Arial" pitchFamily="34" charset="-120"/>
              </a:rPr>
              <a:t>Classical CV + lightweight ML delivers a practical, explainable, deployment-ready colony counter for real laboratory use.</a:t>
            </a:r>
            <a:endParaRPr lang="en-US" sz="11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1353</Words>
  <Application>Microsoft Office PowerPoint</Application>
  <PresentationFormat>On-screen Show (16:9)</PresentationFormat>
  <Paragraphs>245</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Bacterial Colony Counter – AVIT Faculty Hackathon 2026</dc:title>
  <dc:subject>PptxGenJS Presentation</dc:subject>
  <dc:creator>PptxGenJS</dc:creator>
  <cp:lastModifiedBy>HP</cp:lastModifiedBy>
  <cp:revision>2</cp:revision>
  <dcterms:created xsi:type="dcterms:W3CDTF">2026-06-27T10:20:30Z</dcterms:created>
  <dcterms:modified xsi:type="dcterms:W3CDTF">2026-06-27T10:43:18Z</dcterms:modified>
</cp:coreProperties>
</file>